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4"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46"/>
  </p:normalViewPr>
  <p:slideViewPr>
    <p:cSldViewPr snapToGrid="0">
      <p:cViewPr varScale="1">
        <p:scale>
          <a:sx n="88" d="100"/>
          <a:sy n="88" d="100"/>
        </p:scale>
        <p:origin x="176" y="5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6926D68-9A92-4512-95E6-DCFADF8307B0}"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BDB8C534-1D8E-4CE8-B05C-3A3E5869DEC2}">
      <dgm:prSet/>
      <dgm:spPr/>
      <dgm:t>
        <a:bodyPr/>
        <a:lstStyle/>
        <a:p>
          <a:r>
            <a:rPr lang="en-IN" dirty="0"/>
            <a:t>End-to-End Analytics Workflow</a:t>
          </a:r>
          <a:endParaRPr lang="en-US" dirty="0"/>
        </a:p>
      </dgm:t>
    </dgm:pt>
    <dgm:pt modelId="{499DC6A4-0DE7-4EE4-808B-E41EE8074D41}" type="parTrans" cxnId="{765D44E7-28CC-4912-B4C9-B9755BD4E905}">
      <dgm:prSet/>
      <dgm:spPr/>
      <dgm:t>
        <a:bodyPr/>
        <a:lstStyle/>
        <a:p>
          <a:endParaRPr lang="en-US"/>
        </a:p>
      </dgm:t>
    </dgm:pt>
    <dgm:pt modelId="{DAC38D18-7D98-47A2-A36B-D7EDAD1371FE}" type="sibTrans" cxnId="{765D44E7-28CC-4912-B4C9-B9755BD4E905}">
      <dgm:prSet/>
      <dgm:spPr/>
      <dgm:t>
        <a:bodyPr/>
        <a:lstStyle/>
        <a:p>
          <a:endParaRPr lang="en-US"/>
        </a:p>
      </dgm:t>
    </dgm:pt>
    <dgm:pt modelId="{2980548D-2720-4123-9EE3-FEBC15206E3A}">
      <dgm:prSet/>
      <dgm:spPr/>
      <dgm:t>
        <a:bodyPr/>
        <a:lstStyle/>
        <a:p>
          <a:r>
            <a:rPr lang="en-IN"/>
            <a:t>Raw Data Sources</a:t>
          </a:r>
          <a:endParaRPr lang="en-US"/>
        </a:p>
      </dgm:t>
    </dgm:pt>
    <dgm:pt modelId="{01EA226D-8059-42FF-AC11-21AEAB019567}" type="parTrans" cxnId="{8A93ED74-3B42-4273-B917-62971A48EA05}">
      <dgm:prSet/>
      <dgm:spPr/>
      <dgm:t>
        <a:bodyPr/>
        <a:lstStyle/>
        <a:p>
          <a:endParaRPr lang="en-US"/>
        </a:p>
      </dgm:t>
    </dgm:pt>
    <dgm:pt modelId="{C2DA4E47-BDD4-47BA-93D0-32ACCED89E3F}" type="sibTrans" cxnId="{8A93ED74-3B42-4273-B917-62971A48EA05}">
      <dgm:prSet/>
      <dgm:spPr/>
      <dgm:t>
        <a:bodyPr/>
        <a:lstStyle/>
        <a:p>
          <a:endParaRPr lang="en-US"/>
        </a:p>
      </dgm:t>
    </dgm:pt>
    <dgm:pt modelId="{A057EE1B-B00C-413B-B242-63DCCFFAC1DD}">
      <dgm:prSet/>
      <dgm:spPr/>
      <dgm:t>
        <a:bodyPr/>
        <a:lstStyle/>
        <a:p>
          <a:r>
            <a:rPr lang="en-IN"/>
            <a:t>ETL Pipeline</a:t>
          </a:r>
          <a:endParaRPr lang="en-US"/>
        </a:p>
      </dgm:t>
    </dgm:pt>
    <dgm:pt modelId="{61CCD7AC-8640-49E0-B5BA-18B406E079BF}" type="parTrans" cxnId="{15161216-C24F-426A-94E3-291B83A01E73}">
      <dgm:prSet/>
      <dgm:spPr/>
      <dgm:t>
        <a:bodyPr/>
        <a:lstStyle/>
        <a:p>
          <a:endParaRPr lang="en-US"/>
        </a:p>
      </dgm:t>
    </dgm:pt>
    <dgm:pt modelId="{83138881-394B-4919-B30D-78D6D662464D}" type="sibTrans" cxnId="{15161216-C24F-426A-94E3-291B83A01E73}">
      <dgm:prSet/>
      <dgm:spPr/>
      <dgm:t>
        <a:bodyPr/>
        <a:lstStyle/>
        <a:p>
          <a:endParaRPr lang="en-US"/>
        </a:p>
      </dgm:t>
    </dgm:pt>
    <dgm:pt modelId="{48B452DA-646F-42FA-AED8-FC8C6FA58361}">
      <dgm:prSet/>
      <dgm:spPr/>
      <dgm:t>
        <a:bodyPr/>
        <a:lstStyle/>
        <a:p>
          <a:r>
            <a:rPr lang="en-IN"/>
            <a:t>Data Cleaning &amp; Transformation</a:t>
          </a:r>
          <a:endParaRPr lang="en-US"/>
        </a:p>
      </dgm:t>
    </dgm:pt>
    <dgm:pt modelId="{63784D3A-4494-4462-8058-BB4380C30117}" type="parTrans" cxnId="{CFACEA90-491E-41A8-A8B9-9CC98035E30C}">
      <dgm:prSet/>
      <dgm:spPr/>
      <dgm:t>
        <a:bodyPr/>
        <a:lstStyle/>
        <a:p>
          <a:endParaRPr lang="en-US"/>
        </a:p>
      </dgm:t>
    </dgm:pt>
    <dgm:pt modelId="{3FCB865D-7614-47D0-B41B-A1AAAFA275AE}" type="sibTrans" cxnId="{CFACEA90-491E-41A8-A8B9-9CC98035E30C}">
      <dgm:prSet/>
      <dgm:spPr/>
      <dgm:t>
        <a:bodyPr/>
        <a:lstStyle/>
        <a:p>
          <a:endParaRPr lang="en-US"/>
        </a:p>
      </dgm:t>
    </dgm:pt>
    <dgm:pt modelId="{4534D43F-BB13-42AF-856B-124CDB91354B}">
      <dgm:prSet/>
      <dgm:spPr/>
      <dgm:t>
        <a:bodyPr/>
        <a:lstStyle/>
        <a:p>
          <a:r>
            <a:rPr lang="en-IN"/>
            <a:t>Exploratory Data Analysis</a:t>
          </a:r>
          <a:endParaRPr lang="en-US"/>
        </a:p>
      </dgm:t>
    </dgm:pt>
    <dgm:pt modelId="{A57AF6CF-7EBC-41F7-BDF1-BDCE5E1DF22A}" type="parTrans" cxnId="{B73B280D-E5DA-4547-9EFC-07A5B5310B4A}">
      <dgm:prSet/>
      <dgm:spPr/>
      <dgm:t>
        <a:bodyPr/>
        <a:lstStyle/>
        <a:p>
          <a:endParaRPr lang="en-US"/>
        </a:p>
      </dgm:t>
    </dgm:pt>
    <dgm:pt modelId="{90FD043A-DADA-42A4-9876-4652A6E483A2}" type="sibTrans" cxnId="{B73B280D-E5DA-4547-9EFC-07A5B5310B4A}">
      <dgm:prSet/>
      <dgm:spPr/>
      <dgm:t>
        <a:bodyPr/>
        <a:lstStyle/>
        <a:p>
          <a:endParaRPr lang="en-US"/>
        </a:p>
      </dgm:t>
    </dgm:pt>
    <dgm:pt modelId="{5B3F32E5-FF99-4A7C-B363-3A1A38BCE399}">
      <dgm:prSet/>
      <dgm:spPr/>
      <dgm:t>
        <a:bodyPr/>
        <a:lstStyle/>
        <a:p>
          <a:r>
            <a:rPr lang="en-IN"/>
            <a:t>Advanced Analytics</a:t>
          </a:r>
          <a:endParaRPr lang="en-US"/>
        </a:p>
      </dgm:t>
    </dgm:pt>
    <dgm:pt modelId="{C46EDE9D-A6D1-45C6-8642-0FDBD48F580B}" type="parTrans" cxnId="{5EB3A685-3363-45FB-9A8E-F25DCD6FAD6F}">
      <dgm:prSet/>
      <dgm:spPr/>
      <dgm:t>
        <a:bodyPr/>
        <a:lstStyle/>
        <a:p>
          <a:endParaRPr lang="en-US"/>
        </a:p>
      </dgm:t>
    </dgm:pt>
    <dgm:pt modelId="{A16B5942-4700-4C6C-86AE-E07562E17588}" type="sibTrans" cxnId="{5EB3A685-3363-45FB-9A8E-F25DCD6FAD6F}">
      <dgm:prSet/>
      <dgm:spPr/>
      <dgm:t>
        <a:bodyPr/>
        <a:lstStyle/>
        <a:p>
          <a:endParaRPr lang="en-US"/>
        </a:p>
      </dgm:t>
    </dgm:pt>
    <dgm:pt modelId="{BAE8DB60-6E94-4C2A-9B43-0C04AFF4E065}">
      <dgm:prSet/>
      <dgm:spPr/>
      <dgm:t>
        <a:bodyPr/>
        <a:lstStyle/>
        <a:p>
          <a:r>
            <a:rPr lang="en-IN"/>
            <a:t>Tableau Dashboards</a:t>
          </a:r>
          <a:endParaRPr lang="en-US"/>
        </a:p>
      </dgm:t>
    </dgm:pt>
    <dgm:pt modelId="{CEE11515-238B-4807-BE04-A7957021A7D8}" type="parTrans" cxnId="{BD15076A-0C01-426A-BBC0-433B95731ED9}">
      <dgm:prSet/>
      <dgm:spPr/>
      <dgm:t>
        <a:bodyPr/>
        <a:lstStyle/>
        <a:p>
          <a:endParaRPr lang="en-US"/>
        </a:p>
      </dgm:t>
    </dgm:pt>
    <dgm:pt modelId="{A61B2745-E8F8-4C48-9F66-3053EFDD0846}" type="sibTrans" cxnId="{BD15076A-0C01-426A-BBC0-433B95731ED9}">
      <dgm:prSet/>
      <dgm:spPr/>
      <dgm:t>
        <a:bodyPr/>
        <a:lstStyle/>
        <a:p>
          <a:endParaRPr lang="en-US"/>
        </a:p>
      </dgm:t>
    </dgm:pt>
    <dgm:pt modelId="{869B5EEA-8164-4F38-B9A8-A8F1F7C2CA63}">
      <dgm:prSet/>
      <dgm:spPr/>
      <dgm:t>
        <a:bodyPr/>
        <a:lstStyle/>
        <a:p>
          <a:r>
            <a:rPr lang="en-IN"/>
            <a:t>Business Insights</a:t>
          </a:r>
          <a:endParaRPr lang="en-US"/>
        </a:p>
      </dgm:t>
    </dgm:pt>
    <dgm:pt modelId="{F996C9E0-407A-4C1C-83C9-A40C802A9FCF}" type="parTrans" cxnId="{CAE97EC1-D08C-4F76-89B6-21E38C25A8AC}">
      <dgm:prSet/>
      <dgm:spPr/>
      <dgm:t>
        <a:bodyPr/>
        <a:lstStyle/>
        <a:p>
          <a:endParaRPr lang="en-US"/>
        </a:p>
      </dgm:t>
    </dgm:pt>
    <dgm:pt modelId="{CFC19A8D-E051-49E9-B0AE-6F65AAB625F2}" type="sibTrans" cxnId="{CAE97EC1-D08C-4F76-89B6-21E38C25A8AC}">
      <dgm:prSet/>
      <dgm:spPr/>
      <dgm:t>
        <a:bodyPr/>
        <a:lstStyle/>
        <a:p>
          <a:endParaRPr lang="en-US"/>
        </a:p>
      </dgm:t>
    </dgm:pt>
    <dgm:pt modelId="{B2AB58AC-4A05-BF4A-B326-25CD9C266560}" type="pres">
      <dgm:prSet presAssocID="{86926D68-9A92-4512-95E6-DCFADF8307B0}" presName="Name0" presStyleCnt="0">
        <dgm:presLayoutVars>
          <dgm:dir/>
          <dgm:resizeHandles val="exact"/>
        </dgm:presLayoutVars>
      </dgm:prSet>
      <dgm:spPr/>
    </dgm:pt>
    <dgm:pt modelId="{DA11E146-F23A-C344-B78C-49868837A6D1}" type="pres">
      <dgm:prSet presAssocID="{BDB8C534-1D8E-4CE8-B05C-3A3E5869DEC2}" presName="node" presStyleLbl="node1" presStyleIdx="0" presStyleCnt="8">
        <dgm:presLayoutVars>
          <dgm:bulletEnabled val="1"/>
        </dgm:presLayoutVars>
      </dgm:prSet>
      <dgm:spPr/>
    </dgm:pt>
    <dgm:pt modelId="{64C56B10-EAAA-4E4E-93DD-C531B0D235A7}" type="pres">
      <dgm:prSet presAssocID="{DAC38D18-7D98-47A2-A36B-D7EDAD1371FE}" presName="sibTrans" presStyleLbl="sibTrans1D1" presStyleIdx="0" presStyleCnt="7"/>
      <dgm:spPr/>
    </dgm:pt>
    <dgm:pt modelId="{B29F0D7C-D3C8-0A4D-98AB-8E4400422A0E}" type="pres">
      <dgm:prSet presAssocID="{DAC38D18-7D98-47A2-A36B-D7EDAD1371FE}" presName="connectorText" presStyleLbl="sibTrans1D1" presStyleIdx="0" presStyleCnt="7"/>
      <dgm:spPr/>
    </dgm:pt>
    <dgm:pt modelId="{CDF261F9-73F2-264F-ADC7-A0A73D6C0022}" type="pres">
      <dgm:prSet presAssocID="{2980548D-2720-4123-9EE3-FEBC15206E3A}" presName="node" presStyleLbl="node1" presStyleIdx="1" presStyleCnt="8">
        <dgm:presLayoutVars>
          <dgm:bulletEnabled val="1"/>
        </dgm:presLayoutVars>
      </dgm:prSet>
      <dgm:spPr/>
    </dgm:pt>
    <dgm:pt modelId="{736FD83F-8702-2B44-A8A2-8DF77D104CD7}" type="pres">
      <dgm:prSet presAssocID="{C2DA4E47-BDD4-47BA-93D0-32ACCED89E3F}" presName="sibTrans" presStyleLbl="sibTrans1D1" presStyleIdx="1" presStyleCnt="7"/>
      <dgm:spPr/>
    </dgm:pt>
    <dgm:pt modelId="{C7DDA17C-E657-9546-A190-5FE87F29C414}" type="pres">
      <dgm:prSet presAssocID="{C2DA4E47-BDD4-47BA-93D0-32ACCED89E3F}" presName="connectorText" presStyleLbl="sibTrans1D1" presStyleIdx="1" presStyleCnt="7"/>
      <dgm:spPr/>
    </dgm:pt>
    <dgm:pt modelId="{4E73035A-0E19-2C4F-9A77-76673F9B8E26}" type="pres">
      <dgm:prSet presAssocID="{A057EE1B-B00C-413B-B242-63DCCFFAC1DD}" presName="node" presStyleLbl="node1" presStyleIdx="2" presStyleCnt="8">
        <dgm:presLayoutVars>
          <dgm:bulletEnabled val="1"/>
        </dgm:presLayoutVars>
      </dgm:prSet>
      <dgm:spPr/>
    </dgm:pt>
    <dgm:pt modelId="{C2E2DFE1-0049-D745-83E6-AFA581BFCCD4}" type="pres">
      <dgm:prSet presAssocID="{83138881-394B-4919-B30D-78D6D662464D}" presName="sibTrans" presStyleLbl="sibTrans1D1" presStyleIdx="2" presStyleCnt="7"/>
      <dgm:spPr/>
    </dgm:pt>
    <dgm:pt modelId="{9D98DD75-2E4A-0F4F-8120-376709AB1C87}" type="pres">
      <dgm:prSet presAssocID="{83138881-394B-4919-B30D-78D6D662464D}" presName="connectorText" presStyleLbl="sibTrans1D1" presStyleIdx="2" presStyleCnt="7"/>
      <dgm:spPr/>
    </dgm:pt>
    <dgm:pt modelId="{E9FE40DD-1DC4-DD42-80E7-89F055128827}" type="pres">
      <dgm:prSet presAssocID="{48B452DA-646F-42FA-AED8-FC8C6FA58361}" presName="node" presStyleLbl="node1" presStyleIdx="3" presStyleCnt="8">
        <dgm:presLayoutVars>
          <dgm:bulletEnabled val="1"/>
        </dgm:presLayoutVars>
      </dgm:prSet>
      <dgm:spPr/>
    </dgm:pt>
    <dgm:pt modelId="{30961B3E-9E08-B946-90D5-454D4BB5EC01}" type="pres">
      <dgm:prSet presAssocID="{3FCB865D-7614-47D0-B41B-A1AAAFA275AE}" presName="sibTrans" presStyleLbl="sibTrans1D1" presStyleIdx="3" presStyleCnt="7"/>
      <dgm:spPr/>
    </dgm:pt>
    <dgm:pt modelId="{2B3B9A20-0D32-BB46-8A0B-0A13AB08EA5E}" type="pres">
      <dgm:prSet presAssocID="{3FCB865D-7614-47D0-B41B-A1AAAFA275AE}" presName="connectorText" presStyleLbl="sibTrans1D1" presStyleIdx="3" presStyleCnt="7"/>
      <dgm:spPr/>
    </dgm:pt>
    <dgm:pt modelId="{3739C2D4-32A3-5B4E-9FE9-4338811703E7}" type="pres">
      <dgm:prSet presAssocID="{4534D43F-BB13-42AF-856B-124CDB91354B}" presName="node" presStyleLbl="node1" presStyleIdx="4" presStyleCnt="8">
        <dgm:presLayoutVars>
          <dgm:bulletEnabled val="1"/>
        </dgm:presLayoutVars>
      </dgm:prSet>
      <dgm:spPr/>
    </dgm:pt>
    <dgm:pt modelId="{76DD0BC9-FC47-F24A-A4D0-3DF4F5F65F4B}" type="pres">
      <dgm:prSet presAssocID="{90FD043A-DADA-42A4-9876-4652A6E483A2}" presName="sibTrans" presStyleLbl="sibTrans1D1" presStyleIdx="4" presStyleCnt="7"/>
      <dgm:spPr/>
    </dgm:pt>
    <dgm:pt modelId="{B498320A-C0D5-134E-88FF-C5FD1F389856}" type="pres">
      <dgm:prSet presAssocID="{90FD043A-DADA-42A4-9876-4652A6E483A2}" presName="connectorText" presStyleLbl="sibTrans1D1" presStyleIdx="4" presStyleCnt="7"/>
      <dgm:spPr/>
    </dgm:pt>
    <dgm:pt modelId="{B0423F80-2BB3-6C44-9F6E-C6C3D4E6A658}" type="pres">
      <dgm:prSet presAssocID="{5B3F32E5-FF99-4A7C-B363-3A1A38BCE399}" presName="node" presStyleLbl="node1" presStyleIdx="5" presStyleCnt="8">
        <dgm:presLayoutVars>
          <dgm:bulletEnabled val="1"/>
        </dgm:presLayoutVars>
      </dgm:prSet>
      <dgm:spPr/>
    </dgm:pt>
    <dgm:pt modelId="{76DDFF1D-0223-3B43-B1EA-DB96A42A7AC5}" type="pres">
      <dgm:prSet presAssocID="{A16B5942-4700-4C6C-86AE-E07562E17588}" presName="sibTrans" presStyleLbl="sibTrans1D1" presStyleIdx="5" presStyleCnt="7"/>
      <dgm:spPr/>
    </dgm:pt>
    <dgm:pt modelId="{318AE13E-765F-C748-BF31-D74AEF2AD09C}" type="pres">
      <dgm:prSet presAssocID="{A16B5942-4700-4C6C-86AE-E07562E17588}" presName="connectorText" presStyleLbl="sibTrans1D1" presStyleIdx="5" presStyleCnt="7"/>
      <dgm:spPr/>
    </dgm:pt>
    <dgm:pt modelId="{07485026-EA26-9D47-9690-1032D178363E}" type="pres">
      <dgm:prSet presAssocID="{BAE8DB60-6E94-4C2A-9B43-0C04AFF4E065}" presName="node" presStyleLbl="node1" presStyleIdx="6" presStyleCnt="8">
        <dgm:presLayoutVars>
          <dgm:bulletEnabled val="1"/>
        </dgm:presLayoutVars>
      </dgm:prSet>
      <dgm:spPr/>
    </dgm:pt>
    <dgm:pt modelId="{E8BAD394-D6BD-AC4F-8EA0-14D249EB8915}" type="pres">
      <dgm:prSet presAssocID="{A61B2745-E8F8-4C48-9F66-3053EFDD0846}" presName="sibTrans" presStyleLbl="sibTrans1D1" presStyleIdx="6" presStyleCnt="7"/>
      <dgm:spPr/>
    </dgm:pt>
    <dgm:pt modelId="{6D5B4E7D-B14B-0B49-AFEE-7C6199805BB7}" type="pres">
      <dgm:prSet presAssocID="{A61B2745-E8F8-4C48-9F66-3053EFDD0846}" presName="connectorText" presStyleLbl="sibTrans1D1" presStyleIdx="6" presStyleCnt="7"/>
      <dgm:spPr/>
    </dgm:pt>
    <dgm:pt modelId="{3225276D-8000-864D-A416-F58204536E23}" type="pres">
      <dgm:prSet presAssocID="{869B5EEA-8164-4F38-B9A8-A8F1F7C2CA63}" presName="node" presStyleLbl="node1" presStyleIdx="7" presStyleCnt="8">
        <dgm:presLayoutVars>
          <dgm:bulletEnabled val="1"/>
        </dgm:presLayoutVars>
      </dgm:prSet>
      <dgm:spPr/>
    </dgm:pt>
  </dgm:ptLst>
  <dgm:cxnLst>
    <dgm:cxn modelId="{96E4F609-D2A2-6D4C-B814-A6A83BB5DB8E}" type="presOf" srcId="{A61B2745-E8F8-4C48-9F66-3053EFDD0846}" destId="{E8BAD394-D6BD-AC4F-8EA0-14D249EB8915}" srcOrd="0" destOrd="0" presId="urn:microsoft.com/office/officeart/2016/7/layout/RepeatingBendingProcessNew"/>
    <dgm:cxn modelId="{B73B280D-E5DA-4547-9EFC-07A5B5310B4A}" srcId="{86926D68-9A92-4512-95E6-DCFADF8307B0}" destId="{4534D43F-BB13-42AF-856B-124CDB91354B}" srcOrd="4" destOrd="0" parTransId="{A57AF6CF-7EBC-41F7-BDF1-BDCE5E1DF22A}" sibTransId="{90FD043A-DADA-42A4-9876-4652A6E483A2}"/>
    <dgm:cxn modelId="{BA391813-80AB-E04B-8BDF-7A8170986AA0}" type="presOf" srcId="{A61B2745-E8F8-4C48-9F66-3053EFDD0846}" destId="{6D5B4E7D-B14B-0B49-AFEE-7C6199805BB7}" srcOrd="1" destOrd="0" presId="urn:microsoft.com/office/officeart/2016/7/layout/RepeatingBendingProcessNew"/>
    <dgm:cxn modelId="{15161216-C24F-426A-94E3-291B83A01E73}" srcId="{86926D68-9A92-4512-95E6-DCFADF8307B0}" destId="{A057EE1B-B00C-413B-B242-63DCCFFAC1DD}" srcOrd="2" destOrd="0" parTransId="{61CCD7AC-8640-49E0-B5BA-18B406E079BF}" sibTransId="{83138881-394B-4919-B30D-78D6D662464D}"/>
    <dgm:cxn modelId="{0994DC22-9048-5144-A666-73898E59022F}" type="presOf" srcId="{4534D43F-BB13-42AF-856B-124CDB91354B}" destId="{3739C2D4-32A3-5B4E-9FE9-4338811703E7}" srcOrd="0" destOrd="0" presId="urn:microsoft.com/office/officeart/2016/7/layout/RepeatingBendingProcessNew"/>
    <dgm:cxn modelId="{320D4225-0320-1D45-A9D9-4068EEF6882B}" type="presOf" srcId="{BDB8C534-1D8E-4CE8-B05C-3A3E5869DEC2}" destId="{DA11E146-F23A-C344-B78C-49868837A6D1}" srcOrd="0" destOrd="0" presId="urn:microsoft.com/office/officeart/2016/7/layout/RepeatingBendingProcessNew"/>
    <dgm:cxn modelId="{1CC85A25-A512-8A4B-994D-107B473AFE1B}" type="presOf" srcId="{DAC38D18-7D98-47A2-A36B-D7EDAD1371FE}" destId="{64C56B10-EAAA-4E4E-93DD-C531B0D235A7}" srcOrd="0" destOrd="0" presId="urn:microsoft.com/office/officeart/2016/7/layout/RepeatingBendingProcessNew"/>
    <dgm:cxn modelId="{F37DD72A-34CC-104D-B97F-CCE8BBE74417}" type="presOf" srcId="{90FD043A-DADA-42A4-9876-4652A6E483A2}" destId="{76DD0BC9-FC47-F24A-A4D0-3DF4F5F65F4B}" srcOrd="0" destOrd="0" presId="urn:microsoft.com/office/officeart/2016/7/layout/RepeatingBendingProcessNew"/>
    <dgm:cxn modelId="{CDD38C38-0511-B34E-9A34-404937ADBF81}" type="presOf" srcId="{48B452DA-646F-42FA-AED8-FC8C6FA58361}" destId="{E9FE40DD-1DC4-DD42-80E7-89F055128827}" srcOrd="0" destOrd="0" presId="urn:microsoft.com/office/officeart/2016/7/layout/RepeatingBendingProcessNew"/>
    <dgm:cxn modelId="{61573B39-9AF7-6240-9016-E36A645C64C7}" type="presOf" srcId="{5B3F32E5-FF99-4A7C-B363-3A1A38BCE399}" destId="{B0423F80-2BB3-6C44-9F6E-C6C3D4E6A658}" srcOrd="0" destOrd="0" presId="urn:microsoft.com/office/officeart/2016/7/layout/RepeatingBendingProcessNew"/>
    <dgm:cxn modelId="{B203C355-5894-474A-902E-03D08F3BF111}" type="presOf" srcId="{2980548D-2720-4123-9EE3-FEBC15206E3A}" destId="{CDF261F9-73F2-264F-ADC7-A0A73D6C0022}" srcOrd="0" destOrd="0" presId="urn:microsoft.com/office/officeart/2016/7/layout/RepeatingBendingProcessNew"/>
    <dgm:cxn modelId="{BD15076A-0C01-426A-BBC0-433B95731ED9}" srcId="{86926D68-9A92-4512-95E6-DCFADF8307B0}" destId="{BAE8DB60-6E94-4C2A-9B43-0C04AFF4E065}" srcOrd="6" destOrd="0" parTransId="{CEE11515-238B-4807-BE04-A7957021A7D8}" sibTransId="{A61B2745-E8F8-4C48-9F66-3053EFDD0846}"/>
    <dgm:cxn modelId="{5DD99B6B-1F2B-1449-BB66-5D0502DB4EFB}" type="presOf" srcId="{869B5EEA-8164-4F38-B9A8-A8F1F7C2CA63}" destId="{3225276D-8000-864D-A416-F58204536E23}" srcOrd="0" destOrd="0" presId="urn:microsoft.com/office/officeart/2016/7/layout/RepeatingBendingProcessNew"/>
    <dgm:cxn modelId="{1C2C676F-157C-0940-9A22-16F3720E5936}" type="presOf" srcId="{A057EE1B-B00C-413B-B242-63DCCFFAC1DD}" destId="{4E73035A-0E19-2C4F-9A77-76673F9B8E26}" srcOrd="0" destOrd="0" presId="urn:microsoft.com/office/officeart/2016/7/layout/RepeatingBendingProcessNew"/>
    <dgm:cxn modelId="{2623F16F-BE33-5844-9946-0EAFE0894EFE}" type="presOf" srcId="{3FCB865D-7614-47D0-B41B-A1AAAFA275AE}" destId="{2B3B9A20-0D32-BB46-8A0B-0A13AB08EA5E}" srcOrd="1" destOrd="0" presId="urn:microsoft.com/office/officeart/2016/7/layout/RepeatingBendingProcessNew"/>
    <dgm:cxn modelId="{89663E70-73AE-E445-9C03-FB25BF0B2A5B}" type="presOf" srcId="{90FD043A-DADA-42A4-9876-4652A6E483A2}" destId="{B498320A-C0D5-134E-88FF-C5FD1F389856}" srcOrd="1" destOrd="0" presId="urn:microsoft.com/office/officeart/2016/7/layout/RepeatingBendingProcessNew"/>
    <dgm:cxn modelId="{DB207374-8A11-2344-AA86-4D2BF8F5C2DB}" type="presOf" srcId="{86926D68-9A92-4512-95E6-DCFADF8307B0}" destId="{B2AB58AC-4A05-BF4A-B326-25CD9C266560}" srcOrd="0" destOrd="0" presId="urn:microsoft.com/office/officeart/2016/7/layout/RepeatingBendingProcessNew"/>
    <dgm:cxn modelId="{8A93ED74-3B42-4273-B917-62971A48EA05}" srcId="{86926D68-9A92-4512-95E6-DCFADF8307B0}" destId="{2980548D-2720-4123-9EE3-FEBC15206E3A}" srcOrd="1" destOrd="0" parTransId="{01EA226D-8059-42FF-AC11-21AEAB019567}" sibTransId="{C2DA4E47-BDD4-47BA-93D0-32ACCED89E3F}"/>
    <dgm:cxn modelId="{96951379-931D-BC4E-BF5C-E5730ACA5C79}" type="presOf" srcId="{3FCB865D-7614-47D0-B41B-A1AAAFA275AE}" destId="{30961B3E-9E08-B946-90D5-454D4BB5EC01}" srcOrd="0" destOrd="0" presId="urn:microsoft.com/office/officeart/2016/7/layout/RepeatingBendingProcessNew"/>
    <dgm:cxn modelId="{EE76F179-6582-3447-8A9B-233392B7B5EC}" type="presOf" srcId="{A16B5942-4700-4C6C-86AE-E07562E17588}" destId="{318AE13E-765F-C748-BF31-D74AEF2AD09C}" srcOrd="1" destOrd="0" presId="urn:microsoft.com/office/officeart/2016/7/layout/RepeatingBendingProcessNew"/>
    <dgm:cxn modelId="{ACDED781-0E34-2A4B-A2C7-87E80D694E3E}" type="presOf" srcId="{A16B5942-4700-4C6C-86AE-E07562E17588}" destId="{76DDFF1D-0223-3B43-B1EA-DB96A42A7AC5}" srcOrd="0" destOrd="0" presId="urn:microsoft.com/office/officeart/2016/7/layout/RepeatingBendingProcessNew"/>
    <dgm:cxn modelId="{5EB3A685-3363-45FB-9A8E-F25DCD6FAD6F}" srcId="{86926D68-9A92-4512-95E6-DCFADF8307B0}" destId="{5B3F32E5-FF99-4A7C-B363-3A1A38BCE399}" srcOrd="5" destOrd="0" parTransId="{C46EDE9D-A6D1-45C6-8642-0FDBD48F580B}" sibTransId="{A16B5942-4700-4C6C-86AE-E07562E17588}"/>
    <dgm:cxn modelId="{CFACEA90-491E-41A8-A8B9-9CC98035E30C}" srcId="{86926D68-9A92-4512-95E6-DCFADF8307B0}" destId="{48B452DA-646F-42FA-AED8-FC8C6FA58361}" srcOrd="3" destOrd="0" parTransId="{63784D3A-4494-4462-8058-BB4380C30117}" sibTransId="{3FCB865D-7614-47D0-B41B-A1AAAFA275AE}"/>
    <dgm:cxn modelId="{ECE33594-B0AF-2441-878D-E55D9969ADDD}" type="presOf" srcId="{BAE8DB60-6E94-4C2A-9B43-0C04AFF4E065}" destId="{07485026-EA26-9D47-9690-1032D178363E}" srcOrd="0" destOrd="0" presId="urn:microsoft.com/office/officeart/2016/7/layout/RepeatingBendingProcessNew"/>
    <dgm:cxn modelId="{F927F595-CEC7-AF4C-B74D-E68C60F6FD94}" type="presOf" srcId="{83138881-394B-4919-B30D-78D6D662464D}" destId="{C2E2DFE1-0049-D745-83E6-AFA581BFCCD4}" srcOrd="0" destOrd="0" presId="urn:microsoft.com/office/officeart/2016/7/layout/RepeatingBendingProcessNew"/>
    <dgm:cxn modelId="{E52E3397-F397-2E4C-BFCE-CF1D32D2C201}" type="presOf" srcId="{DAC38D18-7D98-47A2-A36B-D7EDAD1371FE}" destId="{B29F0D7C-D3C8-0A4D-98AB-8E4400422A0E}" srcOrd="1" destOrd="0" presId="urn:microsoft.com/office/officeart/2016/7/layout/RepeatingBendingProcessNew"/>
    <dgm:cxn modelId="{8B70A7A2-6D91-B845-BE9B-572FDF07BBC4}" type="presOf" srcId="{83138881-394B-4919-B30D-78D6D662464D}" destId="{9D98DD75-2E4A-0F4F-8120-376709AB1C87}" srcOrd="1" destOrd="0" presId="urn:microsoft.com/office/officeart/2016/7/layout/RepeatingBendingProcessNew"/>
    <dgm:cxn modelId="{CAE97EC1-D08C-4F76-89B6-21E38C25A8AC}" srcId="{86926D68-9A92-4512-95E6-DCFADF8307B0}" destId="{869B5EEA-8164-4F38-B9A8-A8F1F7C2CA63}" srcOrd="7" destOrd="0" parTransId="{F996C9E0-407A-4C1C-83C9-A40C802A9FCF}" sibTransId="{CFC19A8D-E051-49E9-B0AE-6F65AAB625F2}"/>
    <dgm:cxn modelId="{765D44E7-28CC-4912-B4C9-B9755BD4E905}" srcId="{86926D68-9A92-4512-95E6-DCFADF8307B0}" destId="{BDB8C534-1D8E-4CE8-B05C-3A3E5869DEC2}" srcOrd="0" destOrd="0" parTransId="{499DC6A4-0DE7-4EE4-808B-E41EE8074D41}" sibTransId="{DAC38D18-7D98-47A2-A36B-D7EDAD1371FE}"/>
    <dgm:cxn modelId="{0FF9B0EE-C686-B041-BF65-B9886F957681}" type="presOf" srcId="{C2DA4E47-BDD4-47BA-93D0-32ACCED89E3F}" destId="{736FD83F-8702-2B44-A8A2-8DF77D104CD7}" srcOrd="0" destOrd="0" presId="urn:microsoft.com/office/officeart/2016/7/layout/RepeatingBendingProcessNew"/>
    <dgm:cxn modelId="{4CAA94F8-E887-7E4E-B634-F5D813F692D2}" type="presOf" srcId="{C2DA4E47-BDD4-47BA-93D0-32ACCED89E3F}" destId="{C7DDA17C-E657-9546-A190-5FE87F29C414}" srcOrd="1" destOrd="0" presId="urn:microsoft.com/office/officeart/2016/7/layout/RepeatingBendingProcessNew"/>
    <dgm:cxn modelId="{DF8E8554-1576-5B40-8524-D485CDA6FC50}" type="presParOf" srcId="{B2AB58AC-4A05-BF4A-B326-25CD9C266560}" destId="{DA11E146-F23A-C344-B78C-49868837A6D1}" srcOrd="0" destOrd="0" presId="urn:microsoft.com/office/officeart/2016/7/layout/RepeatingBendingProcessNew"/>
    <dgm:cxn modelId="{3688F7F6-04A2-8C42-9B7A-86A804717FB8}" type="presParOf" srcId="{B2AB58AC-4A05-BF4A-B326-25CD9C266560}" destId="{64C56B10-EAAA-4E4E-93DD-C531B0D235A7}" srcOrd="1" destOrd="0" presId="urn:microsoft.com/office/officeart/2016/7/layout/RepeatingBendingProcessNew"/>
    <dgm:cxn modelId="{FC92B800-9116-4243-B774-405B34F6C7B9}" type="presParOf" srcId="{64C56B10-EAAA-4E4E-93DD-C531B0D235A7}" destId="{B29F0D7C-D3C8-0A4D-98AB-8E4400422A0E}" srcOrd="0" destOrd="0" presId="urn:microsoft.com/office/officeart/2016/7/layout/RepeatingBendingProcessNew"/>
    <dgm:cxn modelId="{6A12EA62-8EA8-6940-AF8E-58B041721937}" type="presParOf" srcId="{B2AB58AC-4A05-BF4A-B326-25CD9C266560}" destId="{CDF261F9-73F2-264F-ADC7-A0A73D6C0022}" srcOrd="2" destOrd="0" presId="urn:microsoft.com/office/officeart/2016/7/layout/RepeatingBendingProcessNew"/>
    <dgm:cxn modelId="{B08A03CD-A605-E044-995B-089069452AD2}" type="presParOf" srcId="{B2AB58AC-4A05-BF4A-B326-25CD9C266560}" destId="{736FD83F-8702-2B44-A8A2-8DF77D104CD7}" srcOrd="3" destOrd="0" presId="urn:microsoft.com/office/officeart/2016/7/layout/RepeatingBendingProcessNew"/>
    <dgm:cxn modelId="{B1CB9B59-842B-1349-A2A0-6D051DE6F4C4}" type="presParOf" srcId="{736FD83F-8702-2B44-A8A2-8DF77D104CD7}" destId="{C7DDA17C-E657-9546-A190-5FE87F29C414}" srcOrd="0" destOrd="0" presId="urn:microsoft.com/office/officeart/2016/7/layout/RepeatingBendingProcessNew"/>
    <dgm:cxn modelId="{9AFEC917-C6C2-F844-BB31-4973293CB60D}" type="presParOf" srcId="{B2AB58AC-4A05-BF4A-B326-25CD9C266560}" destId="{4E73035A-0E19-2C4F-9A77-76673F9B8E26}" srcOrd="4" destOrd="0" presId="urn:microsoft.com/office/officeart/2016/7/layout/RepeatingBendingProcessNew"/>
    <dgm:cxn modelId="{BC035472-9298-E147-96AC-F1203A6F18BB}" type="presParOf" srcId="{B2AB58AC-4A05-BF4A-B326-25CD9C266560}" destId="{C2E2DFE1-0049-D745-83E6-AFA581BFCCD4}" srcOrd="5" destOrd="0" presId="urn:microsoft.com/office/officeart/2016/7/layout/RepeatingBendingProcessNew"/>
    <dgm:cxn modelId="{AFF16BB6-61E0-1B46-BE2F-8312D0E17722}" type="presParOf" srcId="{C2E2DFE1-0049-D745-83E6-AFA581BFCCD4}" destId="{9D98DD75-2E4A-0F4F-8120-376709AB1C87}" srcOrd="0" destOrd="0" presId="urn:microsoft.com/office/officeart/2016/7/layout/RepeatingBendingProcessNew"/>
    <dgm:cxn modelId="{A22E439D-BF9B-CB49-BD03-8F17BE86064C}" type="presParOf" srcId="{B2AB58AC-4A05-BF4A-B326-25CD9C266560}" destId="{E9FE40DD-1DC4-DD42-80E7-89F055128827}" srcOrd="6" destOrd="0" presId="urn:microsoft.com/office/officeart/2016/7/layout/RepeatingBendingProcessNew"/>
    <dgm:cxn modelId="{5D559B6D-A65F-984A-A7BD-57FFB8118D85}" type="presParOf" srcId="{B2AB58AC-4A05-BF4A-B326-25CD9C266560}" destId="{30961B3E-9E08-B946-90D5-454D4BB5EC01}" srcOrd="7" destOrd="0" presId="urn:microsoft.com/office/officeart/2016/7/layout/RepeatingBendingProcessNew"/>
    <dgm:cxn modelId="{C0954251-2CDF-C445-ACF4-A65B238B0099}" type="presParOf" srcId="{30961B3E-9E08-B946-90D5-454D4BB5EC01}" destId="{2B3B9A20-0D32-BB46-8A0B-0A13AB08EA5E}" srcOrd="0" destOrd="0" presId="urn:microsoft.com/office/officeart/2016/7/layout/RepeatingBendingProcessNew"/>
    <dgm:cxn modelId="{F8C7D2E0-C5D0-904D-A75C-E1F26E39B05B}" type="presParOf" srcId="{B2AB58AC-4A05-BF4A-B326-25CD9C266560}" destId="{3739C2D4-32A3-5B4E-9FE9-4338811703E7}" srcOrd="8" destOrd="0" presId="urn:microsoft.com/office/officeart/2016/7/layout/RepeatingBendingProcessNew"/>
    <dgm:cxn modelId="{806F84A2-A7C3-F44D-8B7F-7578138F9AAF}" type="presParOf" srcId="{B2AB58AC-4A05-BF4A-B326-25CD9C266560}" destId="{76DD0BC9-FC47-F24A-A4D0-3DF4F5F65F4B}" srcOrd="9" destOrd="0" presId="urn:microsoft.com/office/officeart/2016/7/layout/RepeatingBendingProcessNew"/>
    <dgm:cxn modelId="{FB28AC6C-F2C5-4E49-A8EF-145837B97F63}" type="presParOf" srcId="{76DD0BC9-FC47-F24A-A4D0-3DF4F5F65F4B}" destId="{B498320A-C0D5-134E-88FF-C5FD1F389856}" srcOrd="0" destOrd="0" presId="urn:microsoft.com/office/officeart/2016/7/layout/RepeatingBendingProcessNew"/>
    <dgm:cxn modelId="{C1BE8821-C8F1-CE4D-BCE6-BDBF3487D044}" type="presParOf" srcId="{B2AB58AC-4A05-BF4A-B326-25CD9C266560}" destId="{B0423F80-2BB3-6C44-9F6E-C6C3D4E6A658}" srcOrd="10" destOrd="0" presId="urn:microsoft.com/office/officeart/2016/7/layout/RepeatingBendingProcessNew"/>
    <dgm:cxn modelId="{79684F8C-B7B2-F144-988C-19AB2778E5C7}" type="presParOf" srcId="{B2AB58AC-4A05-BF4A-B326-25CD9C266560}" destId="{76DDFF1D-0223-3B43-B1EA-DB96A42A7AC5}" srcOrd="11" destOrd="0" presId="urn:microsoft.com/office/officeart/2016/7/layout/RepeatingBendingProcessNew"/>
    <dgm:cxn modelId="{41FDAEB7-40ED-7E4E-BD2E-D58DB9D868ED}" type="presParOf" srcId="{76DDFF1D-0223-3B43-B1EA-DB96A42A7AC5}" destId="{318AE13E-765F-C748-BF31-D74AEF2AD09C}" srcOrd="0" destOrd="0" presId="urn:microsoft.com/office/officeart/2016/7/layout/RepeatingBendingProcessNew"/>
    <dgm:cxn modelId="{48E25935-5908-3345-A681-8B9FFD7E2ECB}" type="presParOf" srcId="{B2AB58AC-4A05-BF4A-B326-25CD9C266560}" destId="{07485026-EA26-9D47-9690-1032D178363E}" srcOrd="12" destOrd="0" presId="urn:microsoft.com/office/officeart/2016/7/layout/RepeatingBendingProcessNew"/>
    <dgm:cxn modelId="{17C3D1D5-4699-8C4E-8090-082BF5C1E129}" type="presParOf" srcId="{B2AB58AC-4A05-BF4A-B326-25CD9C266560}" destId="{E8BAD394-D6BD-AC4F-8EA0-14D249EB8915}" srcOrd="13" destOrd="0" presId="urn:microsoft.com/office/officeart/2016/7/layout/RepeatingBendingProcessNew"/>
    <dgm:cxn modelId="{D09AA992-0335-0F47-8EAD-53EC21756D23}" type="presParOf" srcId="{E8BAD394-D6BD-AC4F-8EA0-14D249EB8915}" destId="{6D5B4E7D-B14B-0B49-AFEE-7C6199805BB7}" srcOrd="0" destOrd="0" presId="urn:microsoft.com/office/officeart/2016/7/layout/RepeatingBendingProcessNew"/>
    <dgm:cxn modelId="{75EC245A-0A82-B84A-B60B-56812F85F65D}" type="presParOf" srcId="{B2AB58AC-4A05-BF4A-B326-25CD9C266560}" destId="{3225276D-8000-864D-A416-F58204536E23}" srcOrd="14"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C56B10-EAAA-4E4E-93DD-C531B0D235A7}">
      <dsp:nvSpPr>
        <dsp:cNvPr id="0" name=""/>
        <dsp:cNvSpPr/>
      </dsp:nvSpPr>
      <dsp:spPr>
        <a:xfrm>
          <a:off x="1880851" y="881858"/>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71039" y="925415"/>
        <a:ext cx="21630" cy="4326"/>
      </dsp:txXfrm>
    </dsp:sp>
    <dsp:sp modelId="{DA11E146-F23A-C344-B78C-49868837A6D1}">
      <dsp:nvSpPr>
        <dsp:cNvPr id="0" name=""/>
        <dsp:cNvSpPr/>
      </dsp:nvSpPr>
      <dsp:spPr>
        <a:xfrm>
          <a:off x="1755" y="363309"/>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dirty="0"/>
            <a:t>End-to-End Analytics Workflow</a:t>
          </a:r>
          <a:endParaRPr lang="en-US" sz="1800" kern="1200" dirty="0"/>
        </a:p>
      </dsp:txBody>
      <dsp:txXfrm>
        <a:off x="1755" y="363309"/>
        <a:ext cx="1880895" cy="1128537"/>
      </dsp:txXfrm>
    </dsp:sp>
    <dsp:sp modelId="{736FD83F-8702-2B44-A8A2-8DF77D104CD7}">
      <dsp:nvSpPr>
        <dsp:cNvPr id="0" name=""/>
        <dsp:cNvSpPr/>
      </dsp:nvSpPr>
      <dsp:spPr>
        <a:xfrm>
          <a:off x="4194353" y="881858"/>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4541" y="925415"/>
        <a:ext cx="21630" cy="4326"/>
      </dsp:txXfrm>
    </dsp:sp>
    <dsp:sp modelId="{CDF261F9-73F2-264F-ADC7-A0A73D6C0022}">
      <dsp:nvSpPr>
        <dsp:cNvPr id="0" name=""/>
        <dsp:cNvSpPr/>
      </dsp:nvSpPr>
      <dsp:spPr>
        <a:xfrm>
          <a:off x="2315257" y="363309"/>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Raw Data Sources</a:t>
          </a:r>
          <a:endParaRPr lang="en-US" sz="1800" kern="1200"/>
        </a:p>
      </dsp:txBody>
      <dsp:txXfrm>
        <a:off x="2315257" y="363309"/>
        <a:ext cx="1880895" cy="1128537"/>
      </dsp:txXfrm>
    </dsp:sp>
    <dsp:sp modelId="{C2E2DFE1-0049-D745-83E6-AFA581BFCCD4}">
      <dsp:nvSpPr>
        <dsp:cNvPr id="0" name=""/>
        <dsp:cNvSpPr/>
      </dsp:nvSpPr>
      <dsp:spPr>
        <a:xfrm>
          <a:off x="6507855" y="881858"/>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98043" y="925415"/>
        <a:ext cx="21630" cy="4326"/>
      </dsp:txXfrm>
    </dsp:sp>
    <dsp:sp modelId="{4E73035A-0E19-2C4F-9A77-76673F9B8E26}">
      <dsp:nvSpPr>
        <dsp:cNvPr id="0" name=""/>
        <dsp:cNvSpPr/>
      </dsp:nvSpPr>
      <dsp:spPr>
        <a:xfrm>
          <a:off x="4628759" y="363309"/>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ETL Pipeline</a:t>
          </a:r>
          <a:endParaRPr lang="en-US" sz="1800" kern="1200"/>
        </a:p>
      </dsp:txBody>
      <dsp:txXfrm>
        <a:off x="4628759" y="363309"/>
        <a:ext cx="1880895" cy="1128537"/>
      </dsp:txXfrm>
    </dsp:sp>
    <dsp:sp modelId="{30961B3E-9E08-B946-90D5-454D4BB5EC01}">
      <dsp:nvSpPr>
        <dsp:cNvPr id="0" name=""/>
        <dsp:cNvSpPr/>
      </dsp:nvSpPr>
      <dsp:spPr>
        <a:xfrm>
          <a:off x="942203" y="1490046"/>
          <a:ext cx="6940505" cy="402006"/>
        </a:xfrm>
        <a:custGeom>
          <a:avLst/>
          <a:gdLst/>
          <a:ahLst/>
          <a:cxnLst/>
          <a:rect l="0" t="0" r="0" b="0"/>
          <a:pathLst>
            <a:path>
              <a:moveTo>
                <a:pt x="6940505" y="0"/>
              </a:moveTo>
              <a:lnTo>
                <a:pt x="6940505" y="218103"/>
              </a:lnTo>
              <a:lnTo>
                <a:pt x="0" y="218103"/>
              </a:lnTo>
              <a:lnTo>
                <a:pt x="0" y="402006"/>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238607" y="1688886"/>
        <a:ext cx="347698" cy="4326"/>
      </dsp:txXfrm>
    </dsp:sp>
    <dsp:sp modelId="{E9FE40DD-1DC4-DD42-80E7-89F055128827}">
      <dsp:nvSpPr>
        <dsp:cNvPr id="0" name=""/>
        <dsp:cNvSpPr/>
      </dsp:nvSpPr>
      <dsp:spPr>
        <a:xfrm>
          <a:off x="6942261" y="363309"/>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Data Cleaning &amp; Transformation</a:t>
          </a:r>
          <a:endParaRPr lang="en-US" sz="1800" kern="1200"/>
        </a:p>
      </dsp:txBody>
      <dsp:txXfrm>
        <a:off x="6942261" y="363309"/>
        <a:ext cx="1880895" cy="1128537"/>
      </dsp:txXfrm>
    </dsp:sp>
    <dsp:sp modelId="{76DD0BC9-FC47-F24A-A4D0-3DF4F5F65F4B}">
      <dsp:nvSpPr>
        <dsp:cNvPr id="0" name=""/>
        <dsp:cNvSpPr/>
      </dsp:nvSpPr>
      <dsp:spPr>
        <a:xfrm>
          <a:off x="1880851" y="2443001"/>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071039" y="2486558"/>
        <a:ext cx="21630" cy="4326"/>
      </dsp:txXfrm>
    </dsp:sp>
    <dsp:sp modelId="{3739C2D4-32A3-5B4E-9FE9-4338811703E7}">
      <dsp:nvSpPr>
        <dsp:cNvPr id="0" name=""/>
        <dsp:cNvSpPr/>
      </dsp:nvSpPr>
      <dsp:spPr>
        <a:xfrm>
          <a:off x="1755" y="1924453"/>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Exploratory Data Analysis</a:t>
          </a:r>
          <a:endParaRPr lang="en-US" sz="1800" kern="1200"/>
        </a:p>
      </dsp:txBody>
      <dsp:txXfrm>
        <a:off x="1755" y="1924453"/>
        <a:ext cx="1880895" cy="1128537"/>
      </dsp:txXfrm>
    </dsp:sp>
    <dsp:sp modelId="{76DDFF1D-0223-3B43-B1EA-DB96A42A7AC5}">
      <dsp:nvSpPr>
        <dsp:cNvPr id="0" name=""/>
        <dsp:cNvSpPr/>
      </dsp:nvSpPr>
      <dsp:spPr>
        <a:xfrm>
          <a:off x="4194353" y="2443001"/>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4541" y="2486558"/>
        <a:ext cx="21630" cy="4326"/>
      </dsp:txXfrm>
    </dsp:sp>
    <dsp:sp modelId="{B0423F80-2BB3-6C44-9F6E-C6C3D4E6A658}">
      <dsp:nvSpPr>
        <dsp:cNvPr id="0" name=""/>
        <dsp:cNvSpPr/>
      </dsp:nvSpPr>
      <dsp:spPr>
        <a:xfrm>
          <a:off x="2315257" y="1924453"/>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Advanced Analytics</a:t>
          </a:r>
          <a:endParaRPr lang="en-US" sz="1800" kern="1200"/>
        </a:p>
      </dsp:txBody>
      <dsp:txXfrm>
        <a:off x="2315257" y="1924453"/>
        <a:ext cx="1880895" cy="1128537"/>
      </dsp:txXfrm>
    </dsp:sp>
    <dsp:sp modelId="{E8BAD394-D6BD-AC4F-8EA0-14D249EB8915}">
      <dsp:nvSpPr>
        <dsp:cNvPr id="0" name=""/>
        <dsp:cNvSpPr/>
      </dsp:nvSpPr>
      <dsp:spPr>
        <a:xfrm>
          <a:off x="6507855" y="2443001"/>
          <a:ext cx="402006" cy="91440"/>
        </a:xfrm>
        <a:custGeom>
          <a:avLst/>
          <a:gdLst/>
          <a:ahLst/>
          <a:cxnLst/>
          <a:rect l="0" t="0" r="0" b="0"/>
          <a:pathLst>
            <a:path>
              <a:moveTo>
                <a:pt x="0" y="45720"/>
              </a:moveTo>
              <a:lnTo>
                <a:pt x="402006"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98043" y="2486558"/>
        <a:ext cx="21630" cy="4326"/>
      </dsp:txXfrm>
    </dsp:sp>
    <dsp:sp modelId="{07485026-EA26-9D47-9690-1032D178363E}">
      <dsp:nvSpPr>
        <dsp:cNvPr id="0" name=""/>
        <dsp:cNvSpPr/>
      </dsp:nvSpPr>
      <dsp:spPr>
        <a:xfrm>
          <a:off x="4628759" y="1924453"/>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Tableau Dashboards</a:t>
          </a:r>
          <a:endParaRPr lang="en-US" sz="1800" kern="1200"/>
        </a:p>
      </dsp:txBody>
      <dsp:txXfrm>
        <a:off x="4628759" y="1924453"/>
        <a:ext cx="1880895" cy="1128537"/>
      </dsp:txXfrm>
    </dsp:sp>
    <dsp:sp modelId="{3225276D-8000-864D-A416-F58204536E23}">
      <dsp:nvSpPr>
        <dsp:cNvPr id="0" name=""/>
        <dsp:cNvSpPr/>
      </dsp:nvSpPr>
      <dsp:spPr>
        <a:xfrm>
          <a:off x="6942261" y="1924453"/>
          <a:ext cx="1880895" cy="1128537"/>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2165" tIns="96744" rIns="92165" bIns="96744" numCol="1" spcCol="1270" anchor="ctr" anchorCtr="0">
          <a:noAutofit/>
        </a:bodyPr>
        <a:lstStyle/>
        <a:p>
          <a:pPr marL="0" lvl="0" indent="0" algn="ctr" defTabSz="800100">
            <a:lnSpc>
              <a:spcPct val="90000"/>
            </a:lnSpc>
            <a:spcBef>
              <a:spcPct val="0"/>
            </a:spcBef>
            <a:spcAft>
              <a:spcPct val="35000"/>
            </a:spcAft>
            <a:buNone/>
          </a:pPr>
          <a:r>
            <a:rPr lang="en-IN" sz="1800" kern="1200"/>
            <a:t>Business Insights</a:t>
          </a:r>
          <a:endParaRPr lang="en-US" sz="1800" kern="1200"/>
        </a:p>
      </dsp:txBody>
      <dsp:txXfrm>
        <a:off x="6942261" y="1924453"/>
        <a:ext cx="1880895" cy="1128537"/>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GB"/>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smtClean="0"/>
              <a:pPr/>
              <a:t>6/11/26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315995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9360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F34E6425-0181-43F2-84FC-787E803FD2F8}"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1479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857325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6/11/26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7558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6/11/26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088351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6/11/26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9562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6E86A4C-8E40-4F87-A4F0-01A0687C5742}"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5559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35E72C73-2D91-4E12-BA25-F0AA0C03599B}"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5134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3A1CC3-2375-41D4-9E03-427CAF2A4C1A}" type="datetimeFigureOut">
              <a:rPr lang="en-US" smtClean="0"/>
              <a:t>6/11/26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650856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GB"/>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FF16868-8199-4C2C-A5B1-63AEE139F88E}"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64213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GB"/>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AAD9FF7F-6988-44CC-821B-644E70CD2F73}"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56782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12C299-16B2-4475-990D-751901EACC14}"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107025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smtClean="0"/>
              <a:t>6/11/26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24277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GB"/>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smtClean="0"/>
              <a:t>6/11/26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361333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77369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smtClean="0"/>
              <a:t>6/11/26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77601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GB"/>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smtClean="0"/>
              <a:t>6/11/26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210913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DCCE7-155B-2A3C-E256-89F2D022DEB1}"/>
              </a:ext>
            </a:extLst>
          </p:cNvPr>
          <p:cNvSpPr>
            <a:spLocks noGrp="1"/>
          </p:cNvSpPr>
          <p:nvPr>
            <p:ph type="ctrTitle"/>
          </p:nvPr>
        </p:nvSpPr>
        <p:spPr/>
        <p:txBody>
          <a:bodyPr/>
          <a:lstStyle/>
          <a:p>
            <a:r>
              <a:rPr lang="en-IN" sz="2800" b="1" dirty="0" err="1"/>
              <a:t>Bluestock</a:t>
            </a:r>
            <a:r>
              <a:rPr lang="en-IN" sz="2800" b="1" dirty="0"/>
              <a:t> Mutual Fund Analytics Capstone Project</a:t>
            </a:r>
            <a:br>
              <a:rPr lang="en-IN" sz="2800" b="1" dirty="0"/>
            </a:br>
            <a:endParaRPr lang="en-US" sz="2800" b="1" dirty="0"/>
          </a:p>
        </p:txBody>
      </p:sp>
      <p:sp>
        <p:nvSpPr>
          <p:cNvPr id="3" name="Subtitle 2">
            <a:extLst>
              <a:ext uri="{FF2B5EF4-FFF2-40B4-BE49-F238E27FC236}">
                <a16:creationId xmlns:a16="http://schemas.microsoft.com/office/drawing/2014/main" id="{295F857A-12A3-0F65-E67F-72EF4EF07875}"/>
              </a:ext>
            </a:extLst>
          </p:cNvPr>
          <p:cNvSpPr>
            <a:spLocks noGrp="1"/>
          </p:cNvSpPr>
          <p:nvPr>
            <p:ph type="subTitle" idx="1"/>
          </p:nvPr>
        </p:nvSpPr>
        <p:spPr/>
        <p:txBody>
          <a:bodyPr>
            <a:normAutofit lnSpcReduction="10000"/>
          </a:bodyPr>
          <a:lstStyle/>
          <a:p>
            <a:r>
              <a:rPr lang="en-IN" b="1" dirty="0"/>
              <a:t>Submitted By:</a:t>
            </a:r>
            <a:r>
              <a:rPr lang="en-IN" dirty="0"/>
              <a:t> Ashi Dwivedi</a:t>
            </a:r>
            <a:br>
              <a:rPr lang="en-IN" dirty="0"/>
            </a:br>
            <a:r>
              <a:rPr lang="en-IN" b="1" dirty="0"/>
              <a:t>Organization:</a:t>
            </a:r>
            <a:r>
              <a:rPr lang="en-IN" dirty="0"/>
              <a:t> </a:t>
            </a:r>
            <a:r>
              <a:rPr lang="en-IN" dirty="0" err="1"/>
              <a:t>Bluestock</a:t>
            </a:r>
            <a:r>
              <a:rPr lang="en-IN" dirty="0"/>
              <a:t> Fintech</a:t>
            </a:r>
            <a:br>
              <a:rPr lang="en-IN" dirty="0"/>
            </a:br>
            <a:r>
              <a:rPr lang="en-IN" b="1" dirty="0"/>
              <a:t>Duration:</a:t>
            </a:r>
            <a:r>
              <a:rPr lang="en-IN" dirty="0"/>
              <a:t> Internship Capstone Project</a:t>
            </a:r>
            <a:endParaRPr lang="en-US" dirty="0"/>
          </a:p>
        </p:txBody>
      </p:sp>
      <p:pic>
        <p:nvPicPr>
          <p:cNvPr id="5" name="Picture 4">
            <a:extLst>
              <a:ext uri="{FF2B5EF4-FFF2-40B4-BE49-F238E27FC236}">
                <a16:creationId xmlns:a16="http://schemas.microsoft.com/office/drawing/2014/main" id="{5C22C577-C0BC-F1C7-2AE5-4C2969DC809E}"/>
              </a:ext>
            </a:extLst>
          </p:cNvPr>
          <p:cNvPicPr>
            <a:picLocks noChangeAspect="1"/>
          </p:cNvPicPr>
          <p:nvPr/>
        </p:nvPicPr>
        <p:blipFill>
          <a:blip r:embed="rId2"/>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2636766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314C310-850D-4491-AA52-C75BEA68B6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4EC3799-3F52-48CE-85CC-83AED368EB4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F3FC2939-BF10-4CBC-904B-74A17D4B9C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Freeform 5">
              <a:extLst>
                <a:ext uri="{FF2B5EF4-FFF2-40B4-BE49-F238E27FC236}">
                  <a16:creationId xmlns:a16="http://schemas.microsoft.com/office/drawing/2014/main" id="{266B6D5D-11B6-40A6-9CEF-F0B0D104C5C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grpSp>
      <p:sp>
        <p:nvSpPr>
          <p:cNvPr id="2" name="Title 1">
            <a:extLst>
              <a:ext uri="{FF2B5EF4-FFF2-40B4-BE49-F238E27FC236}">
                <a16:creationId xmlns:a16="http://schemas.microsoft.com/office/drawing/2014/main" id="{9E315174-4AF1-3D0A-EA50-95C19A6F7C27}"/>
              </a:ext>
            </a:extLst>
          </p:cNvPr>
          <p:cNvSpPr>
            <a:spLocks noGrp="1"/>
          </p:cNvSpPr>
          <p:nvPr>
            <p:ph type="title"/>
          </p:nvPr>
        </p:nvSpPr>
        <p:spPr>
          <a:xfrm>
            <a:off x="836247" y="1085549"/>
            <a:ext cx="3430947" cy="4686903"/>
          </a:xfrm>
        </p:spPr>
        <p:txBody>
          <a:bodyPr anchor="ctr">
            <a:normAutofit/>
          </a:bodyPr>
          <a:lstStyle/>
          <a:p>
            <a:pPr algn="r"/>
            <a:r>
              <a:rPr lang="en-IN" dirty="0">
                <a:solidFill>
                  <a:schemeClr val="tx1"/>
                </a:solidFill>
              </a:rPr>
              <a:t>Problem Statement &amp; Objectives</a:t>
            </a:r>
            <a:endParaRPr lang="en-US" dirty="0">
              <a:solidFill>
                <a:schemeClr val="tx1"/>
              </a:solidFill>
            </a:endParaRPr>
          </a:p>
        </p:txBody>
      </p:sp>
      <p:cxnSp>
        <p:nvCxnSpPr>
          <p:cNvPr id="14" name="Straight Connector 13">
            <a:extLst>
              <a:ext uri="{FF2B5EF4-FFF2-40B4-BE49-F238E27FC236}">
                <a16:creationId xmlns:a16="http://schemas.microsoft.com/office/drawing/2014/main" id="{789E20C7-BB50-4317-93C7-90C8ED80B2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930986"/>
            <a:ext cx="0" cy="3200400"/>
          </a:xfrm>
          <a:prstGeom prst="line">
            <a:avLst/>
          </a:prstGeom>
          <a:ln w="15875" cap="sq">
            <a:solidFill>
              <a:schemeClr val="tx1"/>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2339681-04FB-7095-930A-EA12F93C60FC}"/>
              </a:ext>
            </a:extLst>
          </p:cNvPr>
          <p:cNvSpPr>
            <a:spLocks noGrp="1"/>
          </p:cNvSpPr>
          <p:nvPr>
            <p:ph idx="1"/>
          </p:nvPr>
        </p:nvSpPr>
        <p:spPr>
          <a:xfrm>
            <a:off x="5041399" y="1085549"/>
            <a:ext cx="5579707" cy="4686903"/>
          </a:xfrm>
        </p:spPr>
        <p:txBody>
          <a:bodyPr anchor="ctr">
            <a:normAutofit/>
          </a:bodyPr>
          <a:lstStyle/>
          <a:p>
            <a:pPr marL="0" indent="0">
              <a:buNone/>
            </a:pPr>
            <a:r>
              <a:rPr lang="en-IN">
                <a:solidFill>
                  <a:schemeClr val="tx1"/>
                </a:solidFill>
              </a:rPr>
              <a:t>The mutual fund industry generates large volumes of data related to fund performance, investor transactions, SIP inflows, and market trends. Extracting meaningful insights from this data is essential for informed investment and business decisions.</a:t>
            </a:r>
          </a:p>
          <a:p>
            <a:pPr marL="0" indent="0">
              <a:buNone/>
            </a:pPr>
            <a:r>
              <a:rPr lang="en-IN" b="1">
                <a:solidFill>
                  <a:schemeClr val="tx1"/>
                </a:solidFill>
              </a:rPr>
              <a:t>Project Objectives</a:t>
            </a:r>
          </a:p>
          <a:p>
            <a:r>
              <a:rPr lang="en-IN">
                <a:solidFill>
                  <a:schemeClr val="tx1"/>
                </a:solidFill>
              </a:rPr>
              <a:t>Build an end-to-end ETL pipeline </a:t>
            </a:r>
          </a:p>
          <a:p>
            <a:r>
              <a:rPr lang="en-IN">
                <a:solidFill>
                  <a:schemeClr val="tx1"/>
                </a:solidFill>
              </a:rPr>
              <a:t>Analyze mutual fund industry trends </a:t>
            </a:r>
          </a:p>
          <a:p>
            <a:r>
              <a:rPr lang="en-IN">
                <a:solidFill>
                  <a:schemeClr val="tx1"/>
                </a:solidFill>
              </a:rPr>
              <a:t>Evaluate risk and performance metrics </a:t>
            </a:r>
          </a:p>
          <a:p>
            <a:r>
              <a:rPr lang="en-IN">
                <a:solidFill>
                  <a:schemeClr val="tx1"/>
                </a:solidFill>
              </a:rPr>
              <a:t>Study investor behavior and SIP patterns </a:t>
            </a:r>
          </a:p>
          <a:p>
            <a:r>
              <a:rPr lang="en-IN">
                <a:solidFill>
                  <a:schemeClr val="tx1"/>
                </a:solidFill>
              </a:rPr>
              <a:t>Develop interactive dashboards </a:t>
            </a:r>
          </a:p>
          <a:p>
            <a:r>
              <a:rPr lang="en-IN">
                <a:solidFill>
                  <a:schemeClr val="tx1"/>
                </a:solidFill>
              </a:rPr>
              <a:t>Generate actionable business insights </a:t>
            </a:r>
          </a:p>
          <a:p>
            <a:endParaRPr lang="en-US">
              <a:solidFill>
                <a:schemeClr val="tx1"/>
              </a:solidFill>
            </a:endParaRPr>
          </a:p>
        </p:txBody>
      </p:sp>
      <p:pic>
        <p:nvPicPr>
          <p:cNvPr id="19" name="Picture 18">
            <a:extLst>
              <a:ext uri="{FF2B5EF4-FFF2-40B4-BE49-F238E27FC236}">
                <a16:creationId xmlns:a16="http://schemas.microsoft.com/office/drawing/2014/main" id="{95638DAE-B3CC-48DB-518A-DE9859F54947}"/>
              </a:ext>
            </a:extLst>
          </p:cNvPr>
          <p:cNvPicPr>
            <a:picLocks noChangeAspect="1"/>
          </p:cNvPicPr>
          <p:nvPr/>
        </p:nvPicPr>
        <p:blipFill>
          <a:blip r:embed="rId3"/>
          <a:stretch>
            <a:fillRect/>
          </a:stretch>
        </p:blipFill>
        <p:spPr>
          <a:xfrm>
            <a:off x="10946800" y="598713"/>
            <a:ext cx="653142" cy="653142"/>
          </a:xfrm>
          <a:prstGeom prst="rect">
            <a:avLst/>
          </a:prstGeom>
        </p:spPr>
      </p:pic>
    </p:spTree>
    <p:extLst>
      <p:ext uri="{BB962C8B-B14F-4D97-AF65-F5344CB8AC3E}">
        <p14:creationId xmlns:p14="http://schemas.microsoft.com/office/powerpoint/2010/main" val="442149304"/>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3" name="Group 22">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9" name="Rectangle 1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8E119E4D-1487-F312-4F90-DB89ECBBC04A}"/>
              </a:ext>
            </a:extLst>
          </p:cNvPr>
          <p:cNvSpPr>
            <a:spLocks noGrp="1"/>
          </p:cNvSpPr>
          <p:nvPr>
            <p:ph type="title"/>
          </p:nvPr>
        </p:nvSpPr>
        <p:spPr>
          <a:xfrm>
            <a:off x="1000372" y="1209957"/>
            <a:ext cx="3034580" cy="4438087"/>
          </a:xfrm>
        </p:spPr>
        <p:txBody>
          <a:bodyPr anchor="ctr">
            <a:normAutofit/>
          </a:bodyPr>
          <a:lstStyle/>
          <a:p>
            <a:pPr algn="r"/>
            <a:r>
              <a:rPr lang="en-IN" sz="3200">
                <a:solidFill>
                  <a:schemeClr val="tx1"/>
                </a:solidFill>
              </a:rPr>
              <a:t>Data Sources</a:t>
            </a:r>
            <a:endParaRPr lang="en-US" sz="3200">
              <a:solidFill>
                <a:schemeClr val="tx1"/>
              </a:solidFill>
            </a:endParaRPr>
          </a:p>
        </p:txBody>
      </p:sp>
      <p:cxnSp>
        <p:nvCxnSpPr>
          <p:cNvPr id="22" name="Straight Connector 2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8931ACE-BF83-B3B2-7F6F-11C6A976B6E3}"/>
              </a:ext>
            </a:extLst>
          </p:cNvPr>
          <p:cNvSpPr>
            <a:spLocks noGrp="1"/>
          </p:cNvSpPr>
          <p:nvPr>
            <p:ph idx="1"/>
          </p:nvPr>
        </p:nvSpPr>
        <p:spPr>
          <a:xfrm>
            <a:off x="4678424" y="1059025"/>
            <a:ext cx="5302189" cy="4739950"/>
          </a:xfrm>
        </p:spPr>
        <p:txBody>
          <a:bodyPr anchor="ctr">
            <a:normAutofit/>
          </a:bodyPr>
          <a:lstStyle/>
          <a:p>
            <a:pPr marL="0" indent="0">
              <a:lnSpc>
                <a:spcPct val="90000"/>
              </a:lnSpc>
              <a:buNone/>
            </a:pPr>
            <a:r>
              <a:rPr lang="en-IN" sz="1300" b="1" dirty="0">
                <a:solidFill>
                  <a:schemeClr val="tx1"/>
                </a:solidFill>
              </a:rPr>
              <a:t>Data Sources Used</a:t>
            </a:r>
          </a:p>
          <a:p>
            <a:pPr>
              <a:lnSpc>
                <a:spcPct val="90000"/>
              </a:lnSpc>
            </a:pPr>
            <a:r>
              <a:rPr lang="en-IN" sz="1300" b="1" dirty="0">
                <a:solidFill>
                  <a:schemeClr val="tx1"/>
                </a:solidFill>
              </a:rPr>
              <a:t>Fund Master Data</a:t>
            </a:r>
            <a:r>
              <a:rPr lang="en-IN" sz="1300" dirty="0">
                <a:solidFill>
                  <a:schemeClr val="tx1"/>
                </a:solidFill>
              </a:rPr>
              <a:t> – Scheme details and classifications. </a:t>
            </a:r>
          </a:p>
          <a:p>
            <a:pPr>
              <a:lnSpc>
                <a:spcPct val="90000"/>
              </a:lnSpc>
            </a:pPr>
            <a:r>
              <a:rPr lang="en-IN" sz="1300" b="1" dirty="0">
                <a:solidFill>
                  <a:schemeClr val="tx1"/>
                </a:solidFill>
              </a:rPr>
              <a:t>NAV History</a:t>
            </a:r>
            <a:r>
              <a:rPr lang="en-IN" sz="1300" dirty="0">
                <a:solidFill>
                  <a:schemeClr val="tx1"/>
                </a:solidFill>
              </a:rPr>
              <a:t> – Historical NAV values for return analysis. </a:t>
            </a:r>
          </a:p>
          <a:p>
            <a:pPr>
              <a:lnSpc>
                <a:spcPct val="90000"/>
              </a:lnSpc>
            </a:pPr>
            <a:r>
              <a:rPr lang="en-IN" sz="1300" b="1" dirty="0">
                <a:solidFill>
                  <a:schemeClr val="tx1"/>
                </a:solidFill>
              </a:rPr>
              <a:t>AUM Data</a:t>
            </a:r>
            <a:r>
              <a:rPr lang="en-IN" sz="1300" dirty="0">
                <a:solidFill>
                  <a:schemeClr val="tx1"/>
                </a:solidFill>
              </a:rPr>
              <a:t> – Industry and AMC-wise asset growth. </a:t>
            </a:r>
          </a:p>
          <a:p>
            <a:pPr>
              <a:lnSpc>
                <a:spcPct val="90000"/>
              </a:lnSpc>
            </a:pPr>
            <a:r>
              <a:rPr lang="en-IN" sz="1300" b="1" dirty="0">
                <a:solidFill>
                  <a:schemeClr val="tx1"/>
                </a:solidFill>
              </a:rPr>
              <a:t>SIP Inflows</a:t>
            </a:r>
            <a:r>
              <a:rPr lang="en-IN" sz="1300" dirty="0">
                <a:solidFill>
                  <a:schemeClr val="tx1"/>
                </a:solidFill>
              </a:rPr>
              <a:t> – Monthly SIP investment trends. </a:t>
            </a:r>
          </a:p>
          <a:p>
            <a:pPr>
              <a:lnSpc>
                <a:spcPct val="90000"/>
              </a:lnSpc>
            </a:pPr>
            <a:r>
              <a:rPr lang="en-IN" sz="1300" b="1" dirty="0">
                <a:solidFill>
                  <a:schemeClr val="tx1"/>
                </a:solidFill>
              </a:rPr>
              <a:t>Category Inflows</a:t>
            </a:r>
            <a:r>
              <a:rPr lang="en-IN" sz="1300" dirty="0">
                <a:solidFill>
                  <a:schemeClr val="tx1"/>
                </a:solidFill>
              </a:rPr>
              <a:t> – Investment flow across fund categories. </a:t>
            </a:r>
          </a:p>
          <a:p>
            <a:pPr>
              <a:lnSpc>
                <a:spcPct val="90000"/>
              </a:lnSpc>
            </a:pPr>
            <a:r>
              <a:rPr lang="en-IN" sz="1300" b="1" dirty="0">
                <a:solidFill>
                  <a:schemeClr val="tx1"/>
                </a:solidFill>
              </a:rPr>
              <a:t>Investor Transactions</a:t>
            </a:r>
            <a:r>
              <a:rPr lang="en-IN" sz="1300" dirty="0">
                <a:solidFill>
                  <a:schemeClr val="tx1"/>
                </a:solidFill>
              </a:rPr>
              <a:t> – Investor </a:t>
            </a:r>
            <a:r>
              <a:rPr lang="en-IN" sz="1300" dirty="0" err="1">
                <a:solidFill>
                  <a:schemeClr val="tx1"/>
                </a:solidFill>
              </a:rPr>
              <a:t>behavior</a:t>
            </a:r>
            <a:r>
              <a:rPr lang="en-IN" sz="1300" dirty="0">
                <a:solidFill>
                  <a:schemeClr val="tx1"/>
                </a:solidFill>
              </a:rPr>
              <a:t> and transaction analysis. </a:t>
            </a:r>
          </a:p>
          <a:p>
            <a:pPr>
              <a:lnSpc>
                <a:spcPct val="90000"/>
              </a:lnSpc>
            </a:pPr>
            <a:r>
              <a:rPr lang="en-IN" sz="1300" b="1" dirty="0">
                <a:solidFill>
                  <a:schemeClr val="tx1"/>
                </a:solidFill>
              </a:rPr>
              <a:t>Portfolio Holdings</a:t>
            </a:r>
            <a:r>
              <a:rPr lang="en-IN" sz="1300" dirty="0">
                <a:solidFill>
                  <a:schemeClr val="tx1"/>
                </a:solidFill>
              </a:rPr>
              <a:t> – Portfolio composition and concentration analysis. </a:t>
            </a:r>
          </a:p>
          <a:p>
            <a:pPr>
              <a:lnSpc>
                <a:spcPct val="90000"/>
              </a:lnSpc>
            </a:pPr>
            <a:r>
              <a:rPr lang="en-IN" sz="1300" b="1" dirty="0">
                <a:solidFill>
                  <a:schemeClr val="tx1"/>
                </a:solidFill>
              </a:rPr>
              <a:t>Benchmark Indices</a:t>
            </a:r>
            <a:r>
              <a:rPr lang="en-IN" sz="1300" dirty="0">
                <a:solidFill>
                  <a:schemeClr val="tx1"/>
                </a:solidFill>
              </a:rPr>
              <a:t> – Market performance comparison. </a:t>
            </a:r>
          </a:p>
          <a:p>
            <a:pPr marL="0" indent="0">
              <a:lnSpc>
                <a:spcPct val="90000"/>
              </a:lnSpc>
              <a:buNone/>
            </a:pPr>
            <a:r>
              <a:rPr lang="en-IN" sz="1300" b="1" dirty="0">
                <a:solidFill>
                  <a:schemeClr val="tx1"/>
                </a:solidFill>
              </a:rPr>
              <a:t>Highlights</a:t>
            </a:r>
          </a:p>
          <a:p>
            <a:pPr>
              <a:lnSpc>
                <a:spcPct val="90000"/>
              </a:lnSpc>
            </a:pPr>
            <a:r>
              <a:rPr lang="en-IN" sz="1300" dirty="0">
                <a:solidFill>
                  <a:schemeClr val="tx1"/>
                </a:solidFill>
              </a:rPr>
              <a:t>Integrated </a:t>
            </a:r>
            <a:r>
              <a:rPr lang="en-IN" sz="1300" b="1" dirty="0">
                <a:solidFill>
                  <a:schemeClr val="tx1"/>
                </a:solidFill>
              </a:rPr>
              <a:t>8+ datasets</a:t>
            </a:r>
            <a:r>
              <a:rPr lang="en-IN" sz="1300" dirty="0">
                <a:solidFill>
                  <a:schemeClr val="tx1"/>
                </a:solidFill>
              </a:rPr>
              <a:t> into a unified analytics platform. </a:t>
            </a:r>
          </a:p>
          <a:p>
            <a:pPr>
              <a:lnSpc>
                <a:spcPct val="90000"/>
              </a:lnSpc>
            </a:pPr>
            <a:r>
              <a:rPr lang="en-IN" sz="1300" dirty="0">
                <a:solidFill>
                  <a:schemeClr val="tx1"/>
                </a:solidFill>
              </a:rPr>
              <a:t>Combined </a:t>
            </a:r>
            <a:r>
              <a:rPr lang="en-IN" sz="1300" b="1" dirty="0">
                <a:solidFill>
                  <a:schemeClr val="tx1"/>
                </a:solidFill>
              </a:rPr>
              <a:t>fund, investor, and market-level data</a:t>
            </a:r>
            <a:r>
              <a:rPr lang="en-IN" sz="1300" dirty="0">
                <a:solidFill>
                  <a:schemeClr val="tx1"/>
                </a:solidFill>
              </a:rPr>
              <a:t>. </a:t>
            </a:r>
          </a:p>
          <a:p>
            <a:pPr>
              <a:lnSpc>
                <a:spcPct val="90000"/>
              </a:lnSpc>
            </a:pPr>
            <a:r>
              <a:rPr lang="en-IN" sz="1300" dirty="0">
                <a:solidFill>
                  <a:schemeClr val="tx1"/>
                </a:solidFill>
              </a:rPr>
              <a:t>Enabled </a:t>
            </a:r>
            <a:r>
              <a:rPr lang="en-IN" sz="1300" b="1" dirty="0">
                <a:solidFill>
                  <a:schemeClr val="tx1"/>
                </a:solidFill>
              </a:rPr>
              <a:t>risk analysis, performance evaluation, and dashboard reporting</a:t>
            </a:r>
            <a:r>
              <a:rPr lang="en-IN" sz="1300" dirty="0">
                <a:solidFill>
                  <a:schemeClr val="tx1"/>
                </a:solidFill>
              </a:rPr>
              <a:t>.</a:t>
            </a:r>
          </a:p>
          <a:p>
            <a:pPr>
              <a:lnSpc>
                <a:spcPct val="90000"/>
              </a:lnSpc>
            </a:pPr>
            <a:endParaRPr lang="en-US" sz="1300" dirty="0">
              <a:solidFill>
                <a:schemeClr val="tx1"/>
              </a:solidFill>
            </a:endParaRPr>
          </a:p>
        </p:txBody>
      </p:sp>
      <p:pic>
        <p:nvPicPr>
          <p:cNvPr id="24" name="Picture 23">
            <a:extLst>
              <a:ext uri="{FF2B5EF4-FFF2-40B4-BE49-F238E27FC236}">
                <a16:creationId xmlns:a16="http://schemas.microsoft.com/office/drawing/2014/main" id="{F4FF98DE-5975-ED09-8C86-F3E224C504A8}"/>
              </a:ext>
            </a:extLst>
          </p:cNvPr>
          <p:cNvPicPr>
            <a:picLocks noChangeAspect="1"/>
          </p:cNvPicPr>
          <p:nvPr/>
        </p:nvPicPr>
        <p:blipFill>
          <a:blip r:embed="rId2"/>
          <a:stretch>
            <a:fillRect/>
          </a:stretch>
        </p:blipFill>
        <p:spPr>
          <a:xfrm>
            <a:off x="11058473" y="618329"/>
            <a:ext cx="613959" cy="591628"/>
          </a:xfrm>
          <a:prstGeom prst="rect">
            <a:avLst/>
          </a:prstGeom>
        </p:spPr>
      </p:pic>
    </p:spTree>
    <p:extLst>
      <p:ext uri="{BB962C8B-B14F-4D97-AF65-F5344CB8AC3E}">
        <p14:creationId xmlns:p14="http://schemas.microsoft.com/office/powerpoint/2010/main" val="18099141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E2E54-036E-2E38-0193-C3AFCEB6C16B}"/>
              </a:ext>
            </a:extLst>
          </p:cNvPr>
          <p:cNvSpPr>
            <a:spLocks noGrp="1"/>
          </p:cNvSpPr>
          <p:nvPr>
            <p:ph type="title"/>
          </p:nvPr>
        </p:nvSpPr>
        <p:spPr/>
        <p:txBody>
          <a:bodyPr/>
          <a:lstStyle/>
          <a:p>
            <a:r>
              <a:rPr lang="en-IN" dirty="0"/>
              <a:t>Project Architecture</a:t>
            </a:r>
            <a:endParaRPr lang="en-US" dirty="0"/>
          </a:p>
        </p:txBody>
      </p:sp>
      <p:graphicFrame>
        <p:nvGraphicFramePr>
          <p:cNvPr id="5" name="Content Placeholder 2">
            <a:extLst>
              <a:ext uri="{FF2B5EF4-FFF2-40B4-BE49-F238E27FC236}">
                <a16:creationId xmlns:a16="http://schemas.microsoft.com/office/drawing/2014/main" id="{9D5FA1B0-9507-16EE-9C11-6C7B45E9EC93}"/>
              </a:ext>
            </a:extLst>
          </p:cNvPr>
          <p:cNvGraphicFramePr>
            <a:graphicFrameLocks noGrp="1"/>
          </p:cNvGraphicFramePr>
          <p:nvPr>
            <p:ph idx="1"/>
            <p:extLst>
              <p:ext uri="{D42A27DB-BD31-4B8C-83A1-F6EECF244321}">
                <p14:modId xmlns:p14="http://schemas.microsoft.com/office/powerpoint/2010/main" val="2007803651"/>
              </p:ext>
            </p:extLst>
          </p:nvPr>
        </p:nvGraphicFramePr>
        <p:xfrm>
          <a:off x="1155700" y="2603500"/>
          <a:ext cx="8824913" cy="34163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id="{41FD56F5-1B3C-B442-AB96-C21AEC70BA22}"/>
              </a:ext>
            </a:extLst>
          </p:cNvPr>
          <p:cNvPicPr>
            <a:picLocks noChangeAspect="1"/>
          </p:cNvPicPr>
          <p:nvPr/>
        </p:nvPicPr>
        <p:blipFill>
          <a:blip r:embed="rId7"/>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2925430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48B15B68-992E-3E53-4619-538F0BA2F0AE}"/>
              </a:ext>
            </a:extLst>
          </p:cNvPr>
          <p:cNvSpPr>
            <a:spLocks noGrp="1"/>
          </p:cNvSpPr>
          <p:nvPr>
            <p:ph type="title"/>
          </p:nvPr>
        </p:nvSpPr>
        <p:spPr>
          <a:xfrm>
            <a:off x="1154955" y="973668"/>
            <a:ext cx="2942210" cy="1020232"/>
          </a:xfrm>
        </p:spPr>
        <p:txBody>
          <a:bodyPr>
            <a:normAutofit/>
          </a:bodyPr>
          <a:lstStyle/>
          <a:p>
            <a:pPr>
              <a:lnSpc>
                <a:spcPct val="90000"/>
              </a:lnSpc>
            </a:pPr>
            <a:r>
              <a:rPr lang="en-IN" sz="2000" b="1">
                <a:solidFill>
                  <a:srgbClr val="EBEBEB"/>
                </a:solidFill>
              </a:rPr>
              <a:t>EDA Highlights – Industry Trends</a:t>
            </a:r>
            <a:br>
              <a:rPr lang="en-IN" sz="2000" b="1">
                <a:solidFill>
                  <a:srgbClr val="EBEBEB"/>
                </a:solidFill>
              </a:rPr>
            </a:br>
            <a:endParaRPr lang="en-US" sz="2000">
              <a:solidFill>
                <a:srgbClr val="EBEBEB"/>
              </a:solidFill>
            </a:endParaRPr>
          </a:p>
        </p:txBody>
      </p:sp>
      <p:pic>
        <p:nvPicPr>
          <p:cNvPr id="5" name="Picture 4">
            <a:extLst>
              <a:ext uri="{FF2B5EF4-FFF2-40B4-BE49-F238E27FC236}">
                <a16:creationId xmlns:a16="http://schemas.microsoft.com/office/drawing/2014/main" id="{C89E0D89-B820-4535-C729-A3965B3F4D2F}"/>
              </a:ext>
            </a:extLst>
          </p:cNvPr>
          <p:cNvPicPr>
            <a:picLocks noChangeAspect="1"/>
          </p:cNvPicPr>
          <p:nvPr/>
        </p:nvPicPr>
        <p:blipFill>
          <a:blip r:embed="rId2"/>
          <a:stretch>
            <a:fillRect/>
          </a:stretch>
        </p:blipFill>
        <p:spPr>
          <a:xfrm>
            <a:off x="5194607" y="1431646"/>
            <a:ext cx="6391533" cy="3994708"/>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338BC7C-DBC5-BD61-8E3D-B41468A16B97}"/>
              </a:ext>
            </a:extLst>
          </p:cNvPr>
          <p:cNvSpPr>
            <a:spLocks noGrp="1"/>
          </p:cNvSpPr>
          <p:nvPr>
            <p:ph idx="1"/>
          </p:nvPr>
        </p:nvSpPr>
        <p:spPr>
          <a:xfrm>
            <a:off x="1154955" y="2120900"/>
            <a:ext cx="3133726" cy="3898900"/>
          </a:xfrm>
        </p:spPr>
        <p:txBody>
          <a:bodyPr>
            <a:normAutofit/>
          </a:bodyPr>
          <a:lstStyle/>
          <a:p>
            <a:pPr marL="0" indent="0">
              <a:lnSpc>
                <a:spcPct val="90000"/>
              </a:lnSpc>
              <a:buNone/>
            </a:pPr>
            <a:r>
              <a:rPr lang="en-IN" sz="1400" b="1">
                <a:solidFill>
                  <a:srgbClr val="FFFFFF"/>
                </a:solidFill>
              </a:rPr>
              <a:t>Industry Growth Analysis</a:t>
            </a:r>
          </a:p>
          <a:p>
            <a:pPr marL="0" indent="0">
              <a:lnSpc>
                <a:spcPct val="90000"/>
              </a:lnSpc>
              <a:buNone/>
            </a:pPr>
            <a:r>
              <a:rPr lang="en-IN" sz="1400" b="1">
                <a:solidFill>
                  <a:srgbClr val="FFFFFF"/>
                </a:solidFill>
              </a:rPr>
              <a:t>Key Findings</a:t>
            </a:r>
          </a:p>
          <a:p>
            <a:pPr>
              <a:lnSpc>
                <a:spcPct val="90000"/>
              </a:lnSpc>
            </a:pPr>
            <a:r>
              <a:rPr lang="en-IN" sz="1400">
                <a:solidFill>
                  <a:srgbClr val="FFFFFF"/>
                </a:solidFill>
              </a:rPr>
              <a:t>Industry AUM showed consistent growth from 2022–2025 </a:t>
            </a:r>
          </a:p>
          <a:p>
            <a:pPr>
              <a:lnSpc>
                <a:spcPct val="90000"/>
              </a:lnSpc>
            </a:pPr>
            <a:r>
              <a:rPr lang="en-IN" sz="1400">
                <a:solidFill>
                  <a:srgbClr val="FFFFFF"/>
                </a:solidFill>
              </a:rPr>
              <a:t>SIP participation increased significantly </a:t>
            </a:r>
          </a:p>
          <a:p>
            <a:pPr>
              <a:lnSpc>
                <a:spcPct val="90000"/>
              </a:lnSpc>
            </a:pPr>
            <a:r>
              <a:rPr lang="en-IN" sz="1400">
                <a:solidFill>
                  <a:srgbClr val="FFFFFF"/>
                </a:solidFill>
              </a:rPr>
              <a:t>Large AMCs dominate overall market share </a:t>
            </a:r>
          </a:p>
          <a:p>
            <a:pPr marL="0" indent="0">
              <a:lnSpc>
                <a:spcPct val="90000"/>
              </a:lnSpc>
              <a:buNone/>
            </a:pPr>
            <a:r>
              <a:rPr lang="en-IN" sz="1400" b="1">
                <a:solidFill>
                  <a:srgbClr val="FFFFFF"/>
                </a:solidFill>
              </a:rPr>
              <a:t>Insights</a:t>
            </a:r>
          </a:p>
          <a:p>
            <a:pPr>
              <a:lnSpc>
                <a:spcPct val="90000"/>
              </a:lnSpc>
            </a:pPr>
            <a:r>
              <a:rPr lang="en-IN" sz="1400">
                <a:solidFill>
                  <a:srgbClr val="FFFFFF"/>
                </a:solidFill>
              </a:rPr>
              <a:t>Growing investor confidence </a:t>
            </a:r>
          </a:p>
          <a:p>
            <a:pPr>
              <a:lnSpc>
                <a:spcPct val="90000"/>
              </a:lnSpc>
            </a:pPr>
            <a:r>
              <a:rPr lang="en-IN" sz="1400">
                <a:solidFill>
                  <a:srgbClr val="FFFFFF"/>
                </a:solidFill>
              </a:rPr>
              <a:t>Strong retail participation </a:t>
            </a:r>
          </a:p>
          <a:p>
            <a:pPr>
              <a:lnSpc>
                <a:spcPct val="90000"/>
              </a:lnSpc>
            </a:pPr>
            <a:r>
              <a:rPr lang="en-IN" sz="1400">
                <a:solidFill>
                  <a:srgbClr val="FFFFFF"/>
                </a:solidFill>
              </a:rPr>
              <a:t>Expansion of mutual fund ecosystem</a:t>
            </a:r>
          </a:p>
          <a:p>
            <a:pPr>
              <a:lnSpc>
                <a:spcPct val="90000"/>
              </a:lnSpc>
            </a:pPr>
            <a:endParaRPr lang="en-US" sz="140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pic>
        <p:nvPicPr>
          <p:cNvPr id="6" name="Picture 5">
            <a:extLst>
              <a:ext uri="{FF2B5EF4-FFF2-40B4-BE49-F238E27FC236}">
                <a16:creationId xmlns:a16="http://schemas.microsoft.com/office/drawing/2014/main" id="{E83133B0-C1DD-D12C-0C86-6AE77E53C885}"/>
              </a:ext>
            </a:extLst>
          </p:cNvPr>
          <p:cNvPicPr>
            <a:picLocks noChangeAspect="1"/>
          </p:cNvPicPr>
          <p:nvPr/>
        </p:nvPicPr>
        <p:blipFill>
          <a:blip r:embed="rId3"/>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328273750"/>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70C2B8F-6B1B-46D5-86E6-40F36C695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DB521824-592C-476A-AB0A-CA0C6D1F34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A2749EFA-8EE4-4EB8-9424-8E593B9320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6" name="Freeform 5">
            <a:extLst>
              <a:ext uri="{FF2B5EF4-FFF2-40B4-BE49-F238E27FC236}">
                <a16:creationId xmlns:a16="http://schemas.microsoft.com/office/drawing/2014/main" id="{B5C860C9-D4F9-4350-80DA-0D1CD36C77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9CC2D068-5B0D-F3AD-B857-F106E1CF7620}"/>
              </a:ext>
            </a:extLst>
          </p:cNvPr>
          <p:cNvSpPr>
            <a:spLocks noGrp="1"/>
          </p:cNvSpPr>
          <p:nvPr>
            <p:ph type="title"/>
          </p:nvPr>
        </p:nvSpPr>
        <p:spPr>
          <a:xfrm>
            <a:off x="639098" y="629265"/>
            <a:ext cx="5132438" cy="1622322"/>
          </a:xfrm>
        </p:spPr>
        <p:txBody>
          <a:bodyPr>
            <a:normAutofit/>
          </a:bodyPr>
          <a:lstStyle/>
          <a:p>
            <a:r>
              <a:rPr lang="en-IN">
                <a:solidFill>
                  <a:srgbClr val="EBEBEB"/>
                </a:solidFill>
              </a:rPr>
              <a:t>EDA Highlights – Investor Behavior</a:t>
            </a:r>
            <a:endParaRPr lang="en-US">
              <a:solidFill>
                <a:srgbClr val="EBEBEB"/>
              </a:solidFill>
            </a:endParaRPr>
          </a:p>
        </p:txBody>
      </p:sp>
      <p:pic>
        <p:nvPicPr>
          <p:cNvPr id="5" name="Picture 4">
            <a:extLst>
              <a:ext uri="{FF2B5EF4-FFF2-40B4-BE49-F238E27FC236}">
                <a16:creationId xmlns:a16="http://schemas.microsoft.com/office/drawing/2014/main" id="{D469509E-0380-7DD4-BF4C-41BF9A37DC42}"/>
              </a:ext>
            </a:extLst>
          </p:cNvPr>
          <p:cNvPicPr>
            <a:picLocks noChangeAspect="1"/>
          </p:cNvPicPr>
          <p:nvPr/>
        </p:nvPicPr>
        <p:blipFill>
          <a:blip r:embed="rId2"/>
          <a:stretch>
            <a:fillRect/>
          </a:stretch>
        </p:blipFill>
        <p:spPr>
          <a:xfrm>
            <a:off x="6350841" y="1512343"/>
            <a:ext cx="5620136" cy="4482057"/>
          </a:xfrm>
          <a:prstGeom prst="rect">
            <a:avLst/>
          </a:prstGeom>
        </p:spPr>
      </p:pic>
      <p:sp>
        <p:nvSpPr>
          <p:cNvPr id="18" name="Rectangle 17">
            <a:extLst>
              <a:ext uri="{FF2B5EF4-FFF2-40B4-BE49-F238E27FC236}">
                <a16:creationId xmlns:a16="http://schemas.microsoft.com/office/drawing/2014/main" id="{538A90C8-AE0E-4EBA-9AF8-EEDB206020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1CF1E723-15F2-3AA8-716E-A98C447E2620}"/>
              </a:ext>
            </a:extLst>
          </p:cNvPr>
          <p:cNvSpPr>
            <a:spLocks noGrp="1"/>
          </p:cNvSpPr>
          <p:nvPr>
            <p:ph idx="1"/>
          </p:nvPr>
        </p:nvSpPr>
        <p:spPr>
          <a:xfrm>
            <a:off x="639098" y="2418735"/>
            <a:ext cx="5132439" cy="3811742"/>
          </a:xfrm>
        </p:spPr>
        <p:txBody>
          <a:bodyPr anchor="ctr">
            <a:normAutofit/>
          </a:bodyPr>
          <a:lstStyle/>
          <a:p>
            <a:pPr marL="0" indent="0">
              <a:lnSpc>
                <a:spcPct val="90000"/>
              </a:lnSpc>
              <a:buNone/>
            </a:pPr>
            <a:r>
              <a:rPr lang="en-IN" sz="1100" b="1">
                <a:solidFill>
                  <a:srgbClr val="FFFFFF"/>
                </a:solidFill>
              </a:rPr>
              <a:t>Key Findings</a:t>
            </a:r>
          </a:p>
          <a:p>
            <a:pPr>
              <a:lnSpc>
                <a:spcPct val="90000"/>
              </a:lnSpc>
            </a:pPr>
            <a:r>
              <a:rPr lang="en-IN" sz="1100">
                <a:solidFill>
                  <a:srgbClr val="FFFFFF"/>
                </a:solidFill>
              </a:rPr>
              <a:t>The </a:t>
            </a:r>
            <a:r>
              <a:rPr lang="en-IN" sz="1100" b="1">
                <a:solidFill>
                  <a:srgbClr val="FFFFFF"/>
                </a:solidFill>
              </a:rPr>
              <a:t>26–35 age group</a:t>
            </a:r>
            <a:r>
              <a:rPr lang="en-IN" sz="1100">
                <a:solidFill>
                  <a:srgbClr val="FFFFFF"/>
                </a:solidFill>
              </a:rPr>
              <a:t> forms the largest segment of mutual fund investors. </a:t>
            </a:r>
          </a:p>
          <a:p>
            <a:pPr>
              <a:lnSpc>
                <a:spcPct val="90000"/>
              </a:lnSpc>
            </a:pPr>
            <a:r>
              <a:rPr lang="en-IN" sz="1100">
                <a:solidFill>
                  <a:srgbClr val="FFFFFF"/>
                </a:solidFill>
              </a:rPr>
              <a:t>Male investors contribute a higher share of total investments than female investors. </a:t>
            </a:r>
          </a:p>
          <a:p>
            <a:pPr>
              <a:lnSpc>
                <a:spcPct val="90000"/>
              </a:lnSpc>
            </a:pPr>
            <a:r>
              <a:rPr lang="en-IN" sz="1100">
                <a:solidFill>
                  <a:srgbClr val="FFFFFF"/>
                </a:solidFill>
              </a:rPr>
              <a:t>SIP contributions are concentrated in major states such as </a:t>
            </a:r>
            <a:r>
              <a:rPr lang="en-IN" sz="1100" b="1">
                <a:solidFill>
                  <a:srgbClr val="FFFFFF"/>
                </a:solidFill>
              </a:rPr>
              <a:t>Madhya Pradesh, Punjab, and Telangana</a:t>
            </a:r>
            <a:r>
              <a:rPr lang="en-IN" sz="1100">
                <a:solidFill>
                  <a:srgbClr val="FFFFFF"/>
                </a:solidFill>
              </a:rPr>
              <a:t>. </a:t>
            </a:r>
          </a:p>
          <a:p>
            <a:pPr>
              <a:lnSpc>
                <a:spcPct val="90000"/>
              </a:lnSpc>
            </a:pPr>
            <a:r>
              <a:rPr lang="en-IN" sz="1100">
                <a:solidFill>
                  <a:srgbClr val="FFFFFF"/>
                </a:solidFill>
              </a:rPr>
              <a:t>Tier-30 (T30) cities account for the majority of investments, indicating strong urban participation. </a:t>
            </a:r>
          </a:p>
          <a:p>
            <a:pPr>
              <a:lnSpc>
                <a:spcPct val="90000"/>
              </a:lnSpc>
            </a:pPr>
            <a:r>
              <a:rPr lang="en-IN" sz="1100">
                <a:solidFill>
                  <a:srgbClr val="FFFFFF"/>
                </a:solidFill>
              </a:rPr>
              <a:t>Total folios grew significantly between 2022 and 2025, reflecting increasing retail investor adoption. </a:t>
            </a:r>
          </a:p>
          <a:p>
            <a:pPr marL="0" indent="0">
              <a:lnSpc>
                <a:spcPct val="90000"/>
              </a:lnSpc>
              <a:buNone/>
            </a:pPr>
            <a:r>
              <a:rPr lang="en-IN" sz="1100" b="1">
                <a:solidFill>
                  <a:srgbClr val="FFFFFF"/>
                </a:solidFill>
              </a:rPr>
              <a:t>Business Insights</a:t>
            </a:r>
          </a:p>
          <a:p>
            <a:pPr>
              <a:lnSpc>
                <a:spcPct val="90000"/>
              </a:lnSpc>
            </a:pPr>
            <a:r>
              <a:rPr lang="en-IN" sz="1100">
                <a:solidFill>
                  <a:srgbClr val="FFFFFF"/>
                </a:solidFill>
              </a:rPr>
              <a:t>Young professionals are the primary drivers of mutual fund growth. </a:t>
            </a:r>
          </a:p>
          <a:p>
            <a:pPr>
              <a:lnSpc>
                <a:spcPct val="90000"/>
              </a:lnSpc>
            </a:pPr>
            <a:r>
              <a:rPr lang="en-IN" sz="1100">
                <a:solidFill>
                  <a:srgbClr val="FFFFFF"/>
                </a:solidFill>
              </a:rPr>
              <a:t>Expanding investor awareness among underrepresented groups can increase market penetration. </a:t>
            </a:r>
          </a:p>
          <a:p>
            <a:pPr>
              <a:lnSpc>
                <a:spcPct val="90000"/>
              </a:lnSpc>
            </a:pPr>
            <a:r>
              <a:rPr lang="en-IN" sz="1100">
                <a:solidFill>
                  <a:srgbClr val="FFFFFF"/>
                </a:solidFill>
              </a:rPr>
              <a:t>Continued folio growth signals strong confidence in mutual fund investments. </a:t>
            </a:r>
          </a:p>
          <a:p>
            <a:pPr>
              <a:lnSpc>
                <a:spcPct val="90000"/>
              </a:lnSpc>
            </a:pPr>
            <a:endParaRPr lang="en-US" sz="1100">
              <a:solidFill>
                <a:srgbClr val="FFFFFF"/>
              </a:solidFill>
            </a:endParaRPr>
          </a:p>
        </p:txBody>
      </p:sp>
      <p:pic>
        <p:nvPicPr>
          <p:cNvPr id="6" name="Picture 5">
            <a:extLst>
              <a:ext uri="{FF2B5EF4-FFF2-40B4-BE49-F238E27FC236}">
                <a16:creationId xmlns:a16="http://schemas.microsoft.com/office/drawing/2014/main" id="{3F81ED0C-2676-D50F-6FCC-7A6BAFDF4700}"/>
              </a:ext>
            </a:extLst>
          </p:cNvPr>
          <p:cNvPicPr>
            <a:picLocks noChangeAspect="1"/>
          </p:cNvPicPr>
          <p:nvPr/>
        </p:nvPicPr>
        <p:blipFill>
          <a:blip r:embed="rId3"/>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161237475"/>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Shape 11">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4"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C34DC9F6-1415-1B08-65DA-5B1D49669730}"/>
              </a:ext>
            </a:extLst>
          </p:cNvPr>
          <p:cNvSpPr>
            <a:spLocks noGrp="1"/>
          </p:cNvSpPr>
          <p:nvPr>
            <p:ph type="title"/>
          </p:nvPr>
        </p:nvSpPr>
        <p:spPr>
          <a:xfrm>
            <a:off x="1154955" y="973668"/>
            <a:ext cx="2942210" cy="1020232"/>
          </a:xfrm>
        </p:spPr>
        <p:txBody>
          <a:bodyPr>
            <a:normAutofit/>
          </a:bodyPr>
          <a:lstStyle/>
          <a:p>
            <a:pPr>
              <a:lnSpc>
                <a:spcPct val="90000"/>
              </a:lnSpc>
            </a:pPr>
            <a:r>
              <a:rPr lang="en-IN" sz="2000">
                <a:solidFill>
                  <a:srgbClr val="EBEBEB"/>
                </a:solidFill>
              </a:rPr>
              <a:t>Performance Metrics – Risk &amp; Return Analysis</a:t>
            </a:r>
            <a:endParaRPr lang="en-US" sz="2000">
              <a:solidFill>
                <a:srgbClr val="EBEBEB"/>
              </a:solidFill>
            </a:endParaRPr>
          </a:p>
        </p:txBody>
      </p:sp>
      <p:pic>
        <p:nvPicPr>
          <p:cNvPr id="5" name="Picture 4">
            <a:extLst>
              <a:ext uri="{FF2B5EF4-FFF2-40B4-BE49-F238E27FC236}">
                <a16:creationId xmlns:a16="http://schemas.microsoft.com/office/drawing/2014/main" id="{1F40E5C1-953B-D917-7FA4-D4642A7CAE18}"/>
              </a:ext>
            </a:extLst>
          </p:cNvPr>
          <p:cNvPicPr>
            <a:picLocks noChangeAspect="1"/>
          </p:cNvPicPr>
          <p:nvPr/>
        </p:nvPicPr>
        <p:blipFill>
          <a:blip r:embed="rId2"/>
          <a:stretch>
            <a:fillRect/>
          </a:stretch>
        </p:blipFill>
        <p:spPr>
          <a:xfrm>
            <a:off x="5194607" y="1431646"/>
            <a:ext cx="6391533" cy="3994708"/>
          </a:xfrm>
          <a:prstGeom prst="rect">
            <a:avLst/>
          </a:prstGeom>
        </p:spPr>
      </p:pic>
      <p:sp>
        <p:nvSpPr>
          <p:cNvPr id="16" name="Rectangle 15">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B49E4D1C-EAC0-9AA4-6239-70AC8969F2DA}"/>
              </a:ext>
            </a:extLst>
          </p:cNvPr>
          <p:cNvSpPr>
            <a:spLocks noGrp="1"/>
          </p:cNvSpPr>
          <p:nvPr>
            <p:ph idx="1"/>
          </p:nvPr>
        </p:nvSpPr>
        <p:spPr>
          <a:xfrm>
            <a:off x="1154955" y="2120900"/>
            <a:ext cx="3133726" cy="3898900"/>
          </a:xfrm>
        </p:spPr>
        <p:txBody>
          <a:bodyPr>
            <a:normAutofit/>
          </a:bodyPr>
          <a:lstStyle/>
          <a:p>
            <a:pPr marL="0" indent="0">
              <a:lnSpc>
                <a:spcPct val="90000"/>
              </a:lnSpc>
              <a:buNone/>
            </a:pPr>
            <a:r>
              <a:rPr lang="en-IN" sz="1500" b="1">
                <a:solidFill>
                  <a:srgbClr val="FFFFFF"/>
                </a:solidFill>
              </a:rPr>
              <a:t>Fund Performance Evaluation</a:t>
            </a:r>
          </a:p>
          <a:p>
            <a:pPr marL="0" indent="0">
              <a:lnSpc>
                <a:spcPct val="90000"/>
              </a:lnSpc>
              <a:buNone/>
            </a:pPr>
            <a:r>
              <a:rPr lang="en-IN" sz="1500" b="1">
                <a:solidFill>
                  <a:srgbClr val="FFFFFF"/>
                </a:solidFill>
              </a:rPr>
              <a:t>Metrics Used</a:t>
            </a:r>
          </a:p>
          <a:p>
            <a:pPr>
              <a:lnSpc>
                <a:spcPct val="90000"/>
              </a:lnSpc>
            </a:pPr>
            <a:r>
              <a:rPr lang="en-IN" sz="1500">
                <a:solidFill>
                  <a:srgbClr val="FFFFFF"/>
                </a:solidFill>
              </a:rPr>
              <a:t>3-Year Return % </a:t>
            </a:r>
          </a:p>
          <a:p>
            <a:pPr>
              <a:lnSpc>
                <a:spcPct val="90000"/>
              </a:lnSpc>
            </a:pPr>
            <a:r>
              <a:rPr lang="en-IN" sz="1500">
                <a:solidFill>
                  <a:srgbClr val="FFFFFF"/>
                </a:solidFill>
              </a:rPr>
              <a:t>Standard Deviation </a:t>
            </a:r>
          </a:p>
          <a:p>
            <a:pPr>
              <a:lnSpc>
                <a:spcPct val="90000"/>
              </a:lnSpc>
            </a:pPr>
            <a:r>
              <a:rPr lang="en-IN" sz="1500">
                <a:solidFill>
                  <a:srgbClr val="FFFFFF"/>
                </a:solidFill>
              </a:rPr>
              <a:t>Sharpe Ratio </a:t>
            </a:r>
          </a:p>
          <a:p>
            <a:pPr marL="0" indent="0">
              <a:lnSpc>
                <a:spcPct val="90000"/>
              </a:lnSpc>
              <a:buNone/>
            </a:pPr>
            <a:r>
              <a:rPr lang="en-IN" sz="1500" b="1">
                <a:solidFill>
                  <a:srgbClr val="FFFFFF"/>
                </a:solidFill>
              </a:rPr>
              <a:t>Observations</a:t>
            </a:r>
          </a:p>
          <a:p>
            <a:pPr>
              <a:lnSpc>
                <a:spcPct val="90000"/>
              </a:lnSpc>
            </a:pPr>
            <a:r>
              <a:rPr lang="en-IN" sz="1500">
                <a:solidFill>
                  <a:srgbClr val="FFFFFF"/>
                </a:solidFill>
              </a:rPr>
              <a:t>Higher returns generally corresponded to higher risk </a:t>
            </a:r>
          </a:p>
          <a:p>
            <a:pPr>
              <a:lnSpc>
                <a:spcPct val="90000"/>
              </a:lnSpc>
            </a:pPr>
            <a:r>
              <a:rPr lang="en-IN" sz="1500">
                <a:solidFill>
                  <a:srgbClr val="FFFFFF"/>
                </a:solidFill>
              </a:rPr>
              <a:t>Several funds delivered strong risk-adjusted performance </a:t>
            </a:r>
          </a:p>
          <a:p>
            <a:pPr>
              <a:lnSpc>
                <a:spcPct val="90000"/>
              </a:lnSpc>
            </a:pPr>
            <a:r>
              <a:rPr lang="en-IN" sz="1500">
                <a:solidFill>
                  <a:srgbClr val="FFFFFF"/>
                </a:solidFill>
              </a:rPr>
              <a:t>Sharpe Ratio helped identify efficient funds</a:t>
            </a:r>
          </a:p>
          <a:p>
            <a:pPr>
              <a:lnSpc>
                <a:spcPct val="90000"/>
              </a:lnSpc>
            </a:pPr>
            <a:endParaRPr lang="en-US" sz="1500">
              <a:solidFill>
                <a:srgbClr val="FFFFFF"/>
              </a:solidFill>
            </a:endParaRPr>
          </a:p>
        </p:txBody>
      </p:sp>
      <p:sp>
        <p:nvSpPr>
          <p:cNvPr id="22"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pic>
        <p:nvPicPr>
          <p:cNvPr id="6" name="Picture 5">
            <a:extLst>
              <a:ext uri="{FF2B5EF4-FFF2-40B4-BE49-F238E27FC236}">
                <a16:creationId xmlns:a16="http://schemas.microsoft.com/office/drawing/2014/main" id="{771F1367-E0CE-02F1-60B9-572CE426EF49}"/>
              </a:ext>
            </a:extLst>
          </p:cNvPr>
          <p:cNvPicPr>
            <a:picLocks noChangeAspect="1"/>
          </p:cNvPicPr>
          <p:nvPr/>
        </p:nvPicPr>
        <p:blipFill>
          <a:blip r:embed="rId3"/>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3833724890"/>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D5E8-5F4F-4C93-45B8-481BF214E24E}"/>
              </a:ext>
            </a:extLst>
          </p:cNvPr>
          <p:cNvSpPr>
            <a:spLocks noGrp="1"/>
          </p:cNvSpPr>
          <p:nvPr>
            <p:ph type="title"/>
          </p:nvPr>
        </p:nvSpPr>
        <p:spPr>
          <a:xfrm>
            <a:off x="1154954" y="973668"/>
            <a:ext cx="8761413" cy="706964"/>
          </a:xfrm>
        </p:spPr>
        <p:txBody>
          <a:bodyPr>
            <a:normAutofit/>
          </a:bodyPr>
          <a:lstStyle/>
          <a:p>
            <a:pPr>
              <a:lnSpc>
                <a:spcPct val="90000"/>
              </a:lnSpc>
            </a:pPr>
            <a:r>
              <a:rPr lang="en-IN" sz="3100">
                <a:solidFill>
                  <a:srgbClr val="EBEBEB"/>
                </a:solidFill>
              </a:rPr>
              <a:t>Performance Metrics – Advanced Analytics</a:t>
            </a:r>
            <a:endParaRPr lang="en-US" sz="3100">
              <a:solidFill>
                <a:srgbClr val="EBEBEB"/>
              </a:solidFill>
            </a:endParaRPr>
          </a:p>
        </p:txBody>
      </p:sp>
      <p:sp>
        <p:nvSpPr>
          <p:cNvPr id="3" name="Content Placeholder 2">
            <a:extLst>
              <a:ext uri="{FF2B5EF4-FFF2-40B4-BE49-F238E27FC236}">
                <a16:creationId xmlns:a16="http://schemas.microsoft.com/office/drawing/2014/main" id="{B80A2E3C-F1EB-035C-CEF6-C0E2B6161E1C}"/>
              </a:ext>
            </a:extLst>
          </p:cNvPr>
          <p:cNvSpPr>
            <a:spLocks noGrp="1"/>
          </p:cNvSpPr>
          <p:nvPr>
            <p:ph idx="1"/>
          </p:nvPr>
        </p:nvSpPr>
        <p:spPr>
          <a:xfrm>
            <a:off x="1154955" y="2603500"/>
            <a:ext cx="3481054" cy="3416300"/>
          </a:xfrm>
        </p:spPr>
        <p:txBody>
          <a:bodyPr anchor="ctr">
            <a:normAutofit/>
          </a:bodyPr>
          <a:lstStyle/>
          <a:p>
            <a:pPr marL="0" indent="0">
              <a:lnSpc>
                <a:spcPct val="90000"/>
              </a:lnSpc>
              <a:buNone/>
            </a:pPr>
            <a:r>
              <a:rPr lang="en-IN" sz="1200" b="1"/>
              <a:t>Advanced Risk Assessment</a:t>
            </a:r>
          </a:p>
          <a:p>
            <a:pPr marL="0" indent="0">
              <a:lnSpc>
                <a:spcPct val="90000"/>
              </a:lnSpc>
              <a:buNone/>
            </a:pPr>
            <a:r>
              <a:rPr lang="en-IN" sz="1200" b="1"/>
              <a:t>Techniques Implemented</a:t>
            </a:r>
          </a:p>
          <a:p>
            <a:pPr>
              <a:lnSpc>
                <a:spcPct val="90000"/>
              </a:lnSpc>
            </a:pPr>
            <a:r>
              <a:rPr lang="en-IN" sz="1200"/>
              <a:t>Historical VaR (95%) </a:t>
            </a:r>
          </a:p>
          <a:p>
            <a:pPr>
              <a:lnSpc>
                <a:spcPct val="90000"/>
              </a:lnSpc>
            </a:pPr>
            <a:r>
              <a:rPr lang="en-IN" sz="1200"/>
              <a:t>Conditional VaR (CVaR) </a:t>
            </a:r>
          </a:p>
          <a:p>
            <a:pPr>
              <a:lnSpc>
                <a:spcPct val="90000"/>
              </a:lnSpc>
            </a:pPr>
            <a:r>
              <a:rPr lang="en-IN" sz="1200"/>
              <a:t>Rolling 90-Day Sharpe Ratio </a:t>
            </a:r>
          </a:p>
          <a:p>
            <a:pPr>
              <a:lnSpc>
                <a:spcPct val="90000"/>
              </a:lnSpc>
            </a:pPr>
            <a:r>
              <a:rPr lang="en-IN" sz="1200"/>
              <a:t>HHI Concentration Analysis </a:t>
            </a:r>
          </a:p>
          <a:p>
            <a:pPr marL="0" indent="0">
              <a:lnSpc>
                <a:spcPct val="90000"/>
              </a:lnSpc>
              <a:buNone/>
            </a:pPr>
            <a:r>
              <a:rPr lang="en-IN" sz="1200" b="1"/>
              <a:t>Key Findings</a:t>
            </a:r>
          </a:p>
          <a:p>
            <a:pPr>
              <a:lnSpc>
                <a:spcPct val="90000"/>
              </a:lnSpc>
            </a:pPr>
            <a:r>
              <a:rPr lang="en-IN" sz="1200"/>
              <a:t>Small-cap funds showed higher downside risk </a:t>
            </a:r>
          </a:p>
          <a:p>
            <a:pPr>
              <a:lnSpc>
                <a:spcPct val="90000"/>
              </a:lnSpc>
            </a:pPr>
            <a:r>
              <a:rPr lang="en-IN" sz="1200"/>
              <a:t>Portfolio concentration varied across schemes </a:t>
            </a:r>
          </a:p>
          <a:p>
            <a:pPr>
              <a:lnSpc>
                <a:spcPct val="90000"/>
              </a:lnSpc>
            </a:pPr>
            <a:r>
              <a:rPr lang="en-IN" sz="1200"/>
              <a:t>Risk-adjusted performance changed over time</a:t>
            </a:r>
          </a:p>
          <a:p>
            <a:pPr>
              <a:lnSpc>
                <a:spcPct val="90000"/>
              </a:lnSpc>
            </a:pPr>
            <a:endParaRPr lang="en-US" sz="1200"/>
          </a:p>
        </p:txBody>
      </p:sp>
      <p:pic>
        <p:nvPicPr>
          <p:cNvPr id="9" name="Picture 8">
            <a:extLst>
              <a:ext uri="{FF2B5EF4-FFF2-40B4-BE49-F238E27FC236}">
                <a16:creationId xmlns:a16="http://schemas.microsoft.com/office/drawing/2014/main" id="{9061BCA2-7C0B-0686-7D1B-62CEBFA61F84}"/>
              </a:ext>
            </a:extLst>
          </p:cNvPr>
          <p:cNvPicPr>
            <a:picLocks noChangeAspect="1"/>
          </p:cNvPicPr>
          <p:nvPr/>
        </p:nvPicPr>
        <p:blipFill>
          <a:blip r:embed="rId2"/>
          <a:stretch>
            <a:fillRect/>
          </a:stretch>
        </p:blipFill>
        <p:spPr>
          <a:xfrm>
            <a:off x="4984956" y="2800626"/>
            <a:ext cx="6158802" cy="3017812"/>
          </a:xfrm>
          <a:prstGeom prst="roundRect">
            <a:avLst>
              <a:gd name="adj" fmla="val 1858"/>
            </a:avLst>
          </a:prstGeom>
          <a:effectLst>
            <a:outerShdw blurRad="50800" dist="50800" dir="5400000" algn="tl" rotWithShape="0">
              <a:srgbClr val="000000">
                <a:alpha val="43000"/>
              </a:srgbClr>
            </a:outerShdw>
          </a:effectLst>
        </p:spPr>
      </p:pic>
      <p:pic>
        <p:nvPicPr>
          <p:cNvPr id="10" name="Picture 9">
            <a:extLst>
              <a:ext uri="{FF2B5EF4-FFF2-40B4-BE49-F238E27FC236}">
                <a16:creationId xmlns:a16="http://schemas.microsoft.com/office/drawing/2014/main" id="{41DDA184-924A-08BC-B5F1-9AABA6D57FFA}"/>
              </a:ext>
            </a:extLst>
          </p:cNvPr>
          <p:cNvPicPr>
            <a:picLocks noChangeAspect="1"/>
          </p:cNvPicPr>
          <p:nvPr/>
        </p:nvPicPr>
        <p:blipFill>
          <a:blip r:embed="rId3"/>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178036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4D742E62-D0CA-4DEC-815B-5ED27845B5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9" name="Oval 28">
            <a:extLst>
              <a:ext uri="{FF2B5EF4-FFF2-40B4-BE49-F238E27FC236}">
                <a16:creationId xmlns:a16="http://schemas.microsoft.com/office/drawing/2014/main" id="{6ADD3D29-FB68-4A1C-B0DE-CAF42F284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Oval 30">
            <a:extLst>
              <a:ext uri="{FF2B5EF4-FFF2-40B4-BE49-F238E27FC236}">
                <a16:creationId xmlns:a16="http://schemas.microsoft.com/office/drawing/2014/main" id="{24822E8D-300D-45E7-9F98-BDEC743618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3" name="Freeform: Shape 32">
            <a:extLst>
              <a:ext uri="{FF2B5EF4-FFF2-40B4-BE49-F238E27FC236}">
                <a16:creationId xmlns:a16="http://schemas.microsoft.com/office/drawing/2014/main" id="{07C953DC-E764-4B76-B359-52546F4CAB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6290102" y="977273"/>
            <a:ext cx="6053670" cy="4903455"/>
          </a:xfrm>
          <a:custGeom>
            <a:avLst/>
            <a:gdLst>
              <a:gd name="connsiteX0" fmla="*/ 6053670 w 6053670"/>
              <a:gd name="connsiteY0" fmla="*/ 1098 h 4903455"/>
              <a:gd name="connsiteX1" fmla="*/ 6053670 w 6053670"/>
              <a:gd name="connsiteY1" fmla="*/ 424590 h 4903455"/>
              <a:gd name="connsiteX2" fmla="*/ 6053670 w 6053670"/>
              <a:gd name="connsiteY2" fmla="*/ 1254558 h 4903455"/>
              <a:gd name="connsiteX3" fmla="*/ 6053670 w 6053670"/>
              <a:gd name="connsiteY3" fmla="*/ 4903455 h 4903455"/>
              <a:gd name="connsiteX4" fmla="*/ 0 w 6053670"/>
              <a:gd name="connsiteY4" fmla="*/ 4903455 h 4903455"/>
              <a:gd name="connsiteX5" fmla="*/ 0 w 6053670"/>
              <a:gd name="connsiteY5" fmla="*/ 1249853 h 4903455"/>
              <a:gd name="connsiteX6" fmla="*/ 0 w 6053670"/>
              <a:gd name="connsiteY6" fmla="*/ 424590 h 4903455"/>
              <a:gd name="connsiteX7" fmla="*/ 0 w 6053670"/>
              <a:gd name="connsiteY7" fmla="*/ 0 h 4903455"/>
              <a:gd name="connsiteX8" fmla="*/ 35717 w 6053670"/>
              <a:gd name="connsiteY8" fmla="*/ 5488 h 4903455"/>
              <a:gd name="connsiteX9" fmla="*/ 140445 w 6053670"/>
              <a:gd name="connsiteY9" fmla="*/ 21641 h 4903455"/>
              <a:gd name="connsiteX10" fmla="*/ 216722 w 6053670"/>
              <a:gd name="connsiteY10" fmla="*/ 32932 h 4903455"/>
              <a:gd name="connsiteX11" fmla="*/ 307527 w 6053670"/>
              <a:gd name="connsiteY11" fmla="*/ 44850 h 4903455"/>
              <a:gd name="connsiteX12" fmla="*/ 415282 w 6053670"/>
              <a:gd name="connsiteY12" fmla="*/ 59121 h 4903455"/>
              <a:gd name="connsiteX13" fmla="*/ 534539 w 6053670"/>
              <a:gd name="connsiteY13" fmla="*/ 74175 h 4903455"/>
              <a:gd name="connsiteX14" fmla="*/ 668931 w 6053670"/>
              <a:gd name="connsiteY14" fmla="*/ 90014 h 4903455"/>
              <a:gd name="connsiteX15" fmla="*/ 815430 w 6053670"/>
              <a:gd name="connsiteY15" fmla="*/ 106794 h 4903455"/>
              <a:gd name="connsiteX16" fmla="*/ 974641 w 6053670"/>
              <a:gd name="connsiteY16" fmla="*/ 123574 h 4903455"/>
              <a:gd name="connsiteX17" fmla="*/ 1144144 w 6053670"/>
              <a:gd name="connsiteY17" fmla="*/ 140667 h 4903455"/>
              <a:gd name="connsiteX18" fmla="*/ 1326965 w 6053670"/>
              <a:gd name="connsiteY18" fmla="*/ 156506 h 4903455"/>
              <a:gd name="connsiteX19" fmla="*/ 1518261 w 6053670"/>
              <a:gd name="connsiteY19" fmla="*/ 171717 h 4903455"/>
              <a:gd name="connsiteX20" fmla="*/ 1720453 w 6053670"/>
              <a:gd name="connsiteY20" fmla="*/ 185518 h 4903455"/>
              <a:gd name="connsiteX21" fmla="*/ 1931121 w 6053670"/>
              <a:gd name="connsiteY21" fmla="*/ 198690 h 4903455"/>
              <a:gd name="connsiteX22" fmla="*/ 2150869 w 6053670"/>
              <a:gd name="connsiteY22" fmla="*/ 211079 h 4903455"/>
              <a:gd name="connsiteX23" fmla="*/ 2263467 w 6053670"/>
              <a:gd name="connsiteY23" fmla="*/ 215470 h 4903455"/>
              <a:gd name="connsiteX24" fmla="*/ 2378487 w 6053670"/>
              <a:gd name="connsiteY24" fmla="*/ 220332 h 4903455"/>
              <a:gd name="connsiteX25" fmla="*/ 2495323 w 6053670"/>
              <a:gd name="connsiteY25" fmla="*/ 224879 h 4903455"/>
              <a:gd name="connsiteX26" fmla="*/ 2612764 w 6053670"/>
              <a:gd name="connsiteY26" fmla="*/ 227859 h 4903455"/>
              <a:gd name="connsiteX27" fmla="*/ 2732627 w 6053670"/>
              <a:gd name="connsiteY27" fmla="*/ 230525 h 4903455"/>
              <a:gd name="connsiteX28" fmla="*/ 2853700 w 6053670"/>
              <a:gd name="connsiteY28" fmla="*/ 233348 h 4903455"/>
              <a:gd name="connsiteX29" fmla="*/ 2977195 w 6053670"/>
              <a:gd name="connsiteY29" fmla="*/ 235229 h 4903455"/>
              <a:gd name="connsiteX30" fmla="*/ 3101900 w 6053670"/>
              <a:gd name="connsiteY30" fmla="*/ 235229 h 4903455"/>
              <a:gd name="connsiteX31" fmla="*/ 3227817 w 6053670"/>
              <a:gd name="connsiteY31" fmla="*/ 236170 h 4903455"/>
              <a:gd name="connsiteX32" fmla="*/ 3354944 w 6053670"/>
              <a:gd name="connsiteY32" fmla="*/ 235229 h 4903455"/>
              <a:gd name="connsiteX33" fmla="*/ 3483887 w 6053670"/>
              <a:gd name="connsiteY33" fmla="*/ 233348 h 4903455"/>
              <a:gd name="connsiteX34" fmla="*/ 3612830 w 6053670"/>
              <a:gd name="connsiteY34" fmla="*/ 231623 h 4903455"/>
              <a:gd name="connsiteX35" fmla="*/ 3743589 w 6053670"/>
              <a:gd name="connsiteY35" fmla="*/ 227859 h 4903455"/>
              <a:gd name="connsiteX36" fmla="*/ 3875559 w 6053670"/>
              <a:gd name="connsiteY36" fmla="*/ 223938 h 4903455"/>
              <a:gd name="connsiteX37" fmla="*/ 4007529 w 6053670"/>
              <a:gd name="connsiteY37" fmla="*/ 219391 h 4903455"/>
              <a:gd name="connsiteX38" fmla="*/ 4140710 w 6053670"/>
              <a:gd name="connsiteY38" fmla="*/ 212961 h 4903455"/>
              <a:gd name="connsiteX39" fmla="*/ 4275102 w 6053670"/>
              <a:gd name="connsiteY39" fmla="*/ 205277 h 4903455"/>
              <a:gd name="connsiteX40" fmla="*/ 4410098 w 6053670"/>
              <a:gd name="connsiteY40" fmla="*/ 197907 h 4903455"/>
              <a:gd name="connsiteX41" fmla="*/ 4545096 w 6053670"/>
              <a:gd name="connsiteY41" fmla="*/ 188498 h 4903455"/>
              <a:gd name="connsiteX42" fmla="*/ 4681909 w 6053670"/>
              <a:gd name="connsiteY42" fmla="*/ 177207 h 4903455"/>
              <a:gd name="connsiteX43" fmla="*/ 4816905 w 6053670"/>
              <a:gd name="connsiteY43" fmla="*/ 165916 h 4903455"/>
              <a:gd name="connsiteX44" fmla="*/ 4954323 w 6053670"/>
              <a:gd name="connsiteY44" fmla="*/ 152899 h 4903455"/>
              <a:gd name="connsiteX45" fmla="*/ 5092347 w 6053670"/>
              <a:gd name="connsiteY45" fmla="*/ 138629 h 4903455"/>
              <a:gd name="connsiteX46" fmla="*/ 5228555 w 6053670"/>
              <a:gd name="connsiteY46" fmla="*/ 123574 h 4903455"/>
              <a:gd name="connsiteX47" fmla="*/ 5366578 w 6053670"/>
              <a:gd name="connsiteY47" fmla="*/ 106010 h 4903455"/>
              <a:gd name="connsiteX48" fmla="*/ 5503997 w 6053670"/>
              <a:gd name="connsiteY48" fmla="*/ 87192 h 4903455"/>
              <a:gd name="connsiteX49" fmla="*/ 5642020 w 6053670"/>
              <a:gd name="connsiteY49" fmla="*/ 68530 h 4903455"/>
              <a:gd name="connsiteX50" fmla="*/ 5779438 w 6053670"/>
              <a:gd name="connsiteY50" fmla="*/ 46733 h 4903455"/>
              <a:gd name="connsiteX51" fmla="*/ 5916251 w 6053670"/>
              <a:gd name="connsiteY51" fmla="*/ 24464 h 4903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4903455">
                <a:moveTo>
                  <a:pt x="6053670" y="1098"/>
                </a:moveTo>
                <a:lnTo>
                  <a:pt x="6053670" y="424590"/>
                </a:lnTo>
                <a:lnTo>
                  <a:pt x="6053670" y="1254558"/>
                </a:lnTo>
                <a:lnTo>
                  <a:pt x="6053670" y="4903455"/>
                </a:lnTo>
                <a:lnTo>
                  <a:pt x="0" y="4903455"/>
                </a:lnTo>
                <a:lnTo>
                  <a:pt x="0" y="1249853"/>
                </a:lnTo>
                <a:lnTo>
                  <a:pt x="0" y="424590"/>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35" name="Freeform 5">
            <a:extLst>
              <a:ext uri="{FF2B5EF4-FFF2-40B4-BE49-F238E27FC236}">
                <a16:creationId xmlns:a16="http://schemas.microsoft.com/office/drawing/2014/main" id="{C187CEFC-9032-481B-B8CA-A323593DD4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537676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37" name="Freeform 5">
            <a:extLst>
              <a:ext uri="{FF2B5EF4-FFF2-40B4-BE49-F238E27FC236}">
                <a16:creationId xmlns:a16="http://schemas.microsoft.com/office/drawing/2014/main" id="{4CB87468-9225-4E6A-A5B7-B47F08B34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C0A9C5C9-C632-ECD3-DFD2-7225123CF63C}"/>
              </a:ext>
            </a:extLst>
          </p:cNvPr>
          <p:cNvSpPr>
            <a:spLocks noGrp="1"/>
          </p:cNvSpPr>
          <p:nvPr>
            <p:ph type="title"/>
          </p:nvPr>
        </p:nvSpPr>
        <p:spPr>
          <a:xfrm>
            <a:off x="639098" y="629265"/>
            <a:ext cx="6072776" cy="1622322"/>
          </a:xfrm>
        </p:spPr>
        <p:txBody>
          <a:bodyPr>
            <a:normAutofit/>
          </a:bodyPr>
          <a:lstStyle/>
          <a:p>
            <a:r>
              <a:rPr lang="en-IN">
                <a:solidFill>
                  <a:schemeClr val="tx1"/>
                </a:solidFill>
              </a:rPr>
              <a:t>Dashboard Showcase – Industry Overview</a:t>
            </a:r>
            <a:endParaRPr lang="en-US">
              <a:solidFill>
                <a:schemeClr val="tx1"/>
              </a:solidFill>
            </a:endParaRPr>
          </a:p>
        </p:txBody>
      </p:sp>
      <p:pic>
        <p:nvPicPr>
          <p:cNvPr id="5" name="Picture 4">
            <a:extLst>
              <a:ext uri="{FF2B5EF4-FFF2-40B4-BE49-F238E27FC236}">
                <a16:creationId xmlns:a16="http://schemas.microsoft.com/office/drawing/2014/main" id="{B383BBBA-DF19-1F20-3E1E-832F7037FBD5}"/>
              </a:ext>
            </a:extLst>
          </p:cNvPr>
          <p:cNvPicPr>
            <a:picLocks noChangeAspect="1"/>
          </p:cNvPicPr>
          <p:nvPr/>
        </p:nvPicPr>
        <p:blipFill>
          <a:blip r:embed="rId2"/>
          <a:srcRect r="4876" b="4"/>
          <a:stretch>
            <a:fillRect/>
          </a:stretch>
        </p:blipFill>
        <p:spPr>
          <a:xfrm>
            <a:off x="7047176" y="67005"/>
            <a:ext cx="5088807" cy="3343413"/>
          </a:xfrm>
          <a:prstGeom prst="rect">
            <a:avLst/>
          </a:prstGeom>
        </p:spPr>
      </p:pic>
      <p:sp>
        <p:nvSpPr>
          <p:cNvPr id="39" name="Rectangle 38">
            <a:extLst>
              <a:ext uri="{FF2B5EF4-FFF2-40B4-BE49-F238E27FC236}">
                <a16:creationId xmlns:a16="http://schemas.microsoft.com/office/drawing/2014/main" id="{7296B8E7-1A3F-4C7F-A120-29E90E5931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F22E09C-37D3-52AC-ADEC-D2DDBE403AE1}"/>
              </a:ext>
            </a:extLst>
          </p:cNvPr>
          <p:cNvSpPr>
            <a:spLocks noGrp="1"/>
          </p:cNvSpPr>
          <p:nvPr>
            <p:ph idx="1"/>
          </p:nvPr>
        </p:nvSpPr>
        <p:spPr>
          <a:xfrm>
            <a:off x="639098" y="2418735"/>
            <a:ext cx="6072776" cy="3811740"/>
          </a:xfrm>
        </p:spPr>
        <p:txBody>
          <a:bodyPr anchor="ctr">
            <a:normAutofit/>
          </a:bodyPr>
          <a:lstStyle/>
          <a:p>
            <a:pPr marL="0" indent="0">
              <a:lnSpc>
                <a:spcPct val="90000"/>
              </a:lnSpc>
              <a:buNone/>
            </a:pPr>
            <a:r>
              <a:rPr lang="en-IN" sz="1100" b="1">
                <a:solidFill>
                  <a:schemeClr val="tx1"/>
                </a:solidFill>
              </a:rPr>
              <a:t>Dashboard 1: Industry Overview</a:t>
            </a:r>
          </a:p>
          <a:p>
            <a:pPr marL="0" indent="0">
              <a:lnSpc>
                <a:spcPct val="90000"/>
              </a:lnSpc>
              <a:buNone/>
            </a:pPr>
            <a:r>
              <a:rPr lang="en-IN" sz="1100" b="1">
                <a:solidFill>
                  <a:schemeClr val="tx1"/>
                </a:solidFill>
              </a:rPr>
              <a:t>Features</a:t>
            </a:r>
          </a:p>
          <a:p>
            <a:pPr>
              <a:lnSpc>
                <a:spcPct val="90000"/>
              </a:lnSpc>
            </a:pPr>
            <a:r>
              <a:rPr lang="en-IN" sz="1100">
                <a:solidFill>
                  <a:schemeClr val="tx1"/>
                </a:solidFill>
              </a:rPr>
              <a:t>Total AUM </a:t>
            </a:r>
          </a:p>
          <a:p>
            <a:pPr>
              <a:lnSpc>
                <a:spcPct val="90000"/>
              </a:lnSpc>
            </a:pPr>
            <a:r>
              <a:rPr lang="en-IN" sz="1100">
                <a:solidFill>
                  <a:schemeClr val="tx1"/>
                </a:solidFill>
              </a:rPr>
              <a:t>SIP Inflows </a:t>
            </a:r>
          </a:p>
          <a:p>
            <a:pPr>
              <a:lnSpc>
                <a:spcPct val="90000"/>
              </a:lnSpc>
            </a:pPr>
            <a:r>
              <a:rPr lang="en-IN" sz="1100">
                <a:solidFill>
                  <a:schemeClr val="tx1"/>
                </a:solidFill>
              </a:rPr>
              <a:t>Folios </a:t>
            </a:r>
          </a:p>
          <a:p>
            <a:pPr>
              <a:lnSpc>
                <a:spcPct val="90000"/>
              </a:lnSpc>
            </a:pPr>
            <a:r>
              <a:rPr lang="en-IN" sz="1100">
                <a:solidFill>
                  <a:schemeClr val="tx1"/>
                </a:solidFill>
              </a:rPr>
              <a:t>Schemes </a:t>
            </a:r>
          </a:p>
          <a:p>
            <a:pPr>
              <a:lnSpc>
                <a:spcPct val="90000"/>
              </a:lnSpc>
            </a:pPr>
            <a:r>
              <a:rPr lang="en-IN" sz="1100">
                <a:solidFill>
                  <a:schemeClr val="tx1"/>
                </a:solidFill>
              </a:rPr>
              <a:t>AUM Trend Analysis </a:t>
            </a:r>
          </a:p>
          <a:p>
            <a:pPr>
              <a:lnSpc>
                <a:spcPct val="90000"/>
              </a:lnSpc>
            </a:pPr>
            <a:r>
              <a:rPr lang="en-IN" sz="1100">
                <a:solidFill>
                  <a:schemeClr val="tx1"/>
                </a:solidFill>
              </a:rPr>
              <a:t>AUM by AMC </a:t>
            </a:r>
          </a:p>
          <a:p>
            <a:pPr marL="0" indent="0">
              <a:lnSpc>
                <a:spcPct val="90000"/>
              </a:lnSpc>
              <a:buNone/>
            </a:pPr>
            <a:r>
              <a:rPr lang="en-IN" sz="1100" b="1">
                <a:solidFill>
                  <a:schemeClr val="tx1"/>
                </a:solidFill>
              </a:rPr>
              <a:t>Dashboard 2 : Scheme Performance </a:t>
            </a:r>
          </a:p>
          <a:p>
            <a:pPr>
              <a:lnSpc>
                <a:spcPct val="90000"/>
              </a:lnSpc>
            </a:pPr>
            <a:r>
              <a:rPr lang="en-IN" sz="1100">
                <a:solidFill>
                  <a:schemeClr val="tx1"/>
                </a:solidFill>
              </a:rPr>
              <a:t>Fund Performance Dashboard</a:t>
            </a:r>
          </a:p>
          <a:p>
            <a:pPr>
              <a:lnSpc>
                <a:spcPct val="90000"/>
              </a:lnSpc>
            </a:pPr>
            <a:r>
              <a:rPr lang="en-IN" sz="1100">
                <a:solidFill>
                  <a:schemeClr val="tx1"/>
                </a:solidFill>
              </a:rPr>
              <a:t>Risk vs Return </a:t>
            </a:r>
          </a:p>
          <a:p>
            <a:pPr>
              <a:lnSpc>
                <a:spcPct val="90000"/>
              </a:lnSpc>
            </a:pPr>
            <a:r>
              <a:rPr lang="en-IN" sz="1100">
                <a:solidFill>
                  <a:schemeClr val="tx1"/>
                </a:solidFill>
              </a:rPr>
              <a:t>Sharpe Analysis </a:t>
            </a:r>
          </a:p>
          <a:p>
            <a:pPr>
              <a:lnSpc>
                <a:spcPct val="90000"/>
              </a:lnSpc>
            </a:pPr>
            <a:r>
              <a:rPr lang="en-IN" sz="1100">
                <a:solidFill>
                  <a:schemeClr val="tx1"/>
                </a:solidFill>
              </a:rPr>
              <a:t>NAV vs Benchmark</a:t>
            </a:r>
          </a:p>
          <a:p>
            <a:pPr marL="0" indent="0">
              <a:lnSpc>
                <a:spcPct val="90000"/>
              </a:lnSpc>
              <a:buNone/>
            </a:pPr>
            <a:endParaRPr lang="en-US" sz="1100">
              <a:solidFill>
                <a:schemeClr val="tx1"/>
              </a:solidFill>
            </a:endParaRPr>
          </a:p>
        </p:txBody>
      </p:sp>
      <p:pic>
        <p:nvPicPr>
          <p:cNvPr id="7" name="Picture 6">
            <a:extLst>
              <a:ext uri="{FF2B5EF4-FFF2-40B4-BE49-F238E27FC236}">
                <a16:creationId xmlns:a16="http://schemas.microsoft.com/office/drawing/2014/main" id="{46F5A96C-1439-25AF-045C-D5391B1CED18}"/>
              </a:ext>
            </a:extLst>
          </p:cNvPr>
          <p:cNvPicPr>
            <a:picLocks noChangeAspect="1"/>
          </p:cNvPicPr>
          <p:nvPr/>
        </p:nvPicPr>
        <p:blipFill>
          <a:blip r:embed="rId3"/>
          <a:srcRect r="4876" b="4"/>
          <a:stretch>
            <a:fillRect/>
          </a:stretch>
        </p:blipFill>
        <p:spPr>
          <a:xfrm>
            <a:off x="7047175" y="3475836"/>
            <a:ext cx="5088807" cy="3343416"/>
          </a:xfrm>
          <a:prstGeom prst="rect">
            <a:avLst/>
          </a:prstGeom>
        </p:spPr>
      </p:pic>
      <p:pic>
        <p:nvPicPr>
          <p:cNvPr id="9" name="Picture 8">
            <a:extLst>
              <a:ext uri="{FF2B5EF4-FFF2-40B4-BE49-F238E27FC236}">
                <a16:creationId xmlns:a16="http://schemas.microsoft.com/office/drawing/2014/main" id="{0C0E5D55-A363-23AC-25D3-861A2EF85050}"/>
              </a:ext>
            </a:extLst>
          </p:cNvPr>
          <p:cNvPicPr>
            <a:picLocks noChangeAspect="1"/>
          </p:cNvPicPr>
          <p:nvPr/>
        </p:nvPicPr>
        <p:blipFill>
          <a:blip r:embed="rId4"/>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1088187356"/>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 name="Rectangle 79">
            <a:extLst>
              <a:ext uri="{FF2B5EF4-FFF2-40B4-BE49-F238E27FC236}">
                <a16:creationId xmlns:a16="http://schemas.microsoft.com/office/drawing/2014/main" id="{D1DE3271-DD99-4DEF-AF9F-84397884C8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82" name="Freeform: Shape 81">
            <a:extLst>
              <a:ext uri="{FF2B5EF4-FFF2-40B4-BE49-F238E27FC236}">
                <a16:creationId xmlns:a16="http://schemas.microsoft.com/office/drawing/2014/main" id="{E06A31CE-F9B6-4BA2-8685-60F3524D0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950898" y="638067"/>
            <a:ext cx="6053670" cy="5581866"/>
          </a:xfrm>
          <a:custGeom>
            <a:avLst/>
            <a:gdLst>
              <a:gd name="connsiteX0" fmla="*/ 6053670 w 6053670"/>
              <a:gd name="connsiteY0" fmla="*/ 1098 h 5581866"/>
              <a:gd name="connsiteX1" fmla="*/ 6053670 w 6053670"/>
              <a:gd name="connsiteY1" fmla="*/ 514028 h 5581866"/>
              <a:gd name="connsiteX2" fmla="*/ 6053670 w 6053670"/>
              <a:gd name="connsiteY2" fmla="*/ 1254558 h 5581866"/>
              <a:gd name="connsiteX3" fmla="*/ 6053670 w 6053670"/>
              <a:gd name="connsiteY3" fmla="*/ 5581866 h 5581866"/>
              <a:gd name="connsiteX4" fmla="*/ 0 w 6053670"/>
              <a:gd name="connsiteY4" fmla="*/ 5581866 h 5581866"/>
              <a:gd name="connsiteX5" fmla="*/ 0 w 6053670"/>
              <a:gd name="connsiteY5" fmla="*/ 1249853 h 5581866"/>
              <a:gd name="connsiteX6" fmla="*/ 0 w 6053670"/>
              <a:gd name="connsiteY6" fmla="*/ 514028 h 5581866"/>
              <a:gd name="connsiteX7" fmla="*/ 0 w 6053670"/>
              <a:gd name="connsiteY7" fmla="*/ 0 h 5581866"/>
              <a:gd name="connsiteX8" fmla="*/ 35717 w 6053670"/>
              <a:gd name="connsiteY8" fmla="*/ 5488 h 5581866"/>
              <a:gd name="connsiteX9" fmla="*/ 140445 w 6053670"/>
              <a:gd name="connsiteY9" fmla="*/ 21641 h 5581866"/>
              <a:gd name="connsiteX10" fmla="*/ 216722 w 6053670"/>
              <a:gd name="connsiteY10" fmla="*/ 32932 h 5581866"/>
              <a:gd name="connsiteX11" fmla="*/ 307527 w 6053670"/>
              <a:gd name="connsiteY11" fmla="*/ 44850 h 5581866"/>
              <a:gd name="connsiteX12" fmla="*/ 415282 w 6053670"/>
              <a:gd name="connsiteY12" fmla="*/ 59121 h 5581866"/>
              <a:gd name="connsiteX13" fmla="*/ 534539 w 6053670"/>
              <a:gd name="connsiteY13" fmla="*/ 74175 h 5581866"/>
              <a:gd name="connsiteX14" fmla="*/ 668931 w 6053670"/>
              <a:gd name="connsiteY14" fmla="*/ 90014 h 5581866"/>
              <a:gd name="connsiteX15" fmla="*/ 815430 w 6053670"/>
              <a:gd name="connsiteY15" fmla="*/ 106794 h 5581866"/>
              <a:gd name="connsiteX16" fmla="*/ 974641 w 6053670"/>
              <a:gd name="connsiteY16" fmla="*/ 123574 h 5581866"/>
              <a:gd name="connsiteX17" fmla="*/ 1144144 w 6053670"/>
              <a:gd name="connsiteY17" fmla="*/ 140667 h 5581866"/>
              <a:gd name="connsiteX18" fmla="*/ 1326965 w 6053670"/>
              <a:gd name="connsiteY18" fmla="*/ 156506 h 5581866"/>
              <a:gd name="connsiteX19" fmla="*/ 1518261 w 6053670"/>
              <a:gd name="connsiteY19" fmla="*/ 171717 h 5581866"/>
              <a:gd name="connsiteX20" fmla="*/ 1720453 w 6053670"/>
              <a:gd name="connsiteY20" fmla="*/ 185518 h 5581866"/>
              <a:gd name="connsiteX21" fmla="*/ 1931121 w 6053670"/>
              <a:gd name="connsiteY21" fmla="*/ 198690 h 5581866"/>
              <a:gd name="connsiteX22" fmla="*/ 2150869 w 6053670"/>
              <a:gd name="connsiteY22" fmla="*/ 211079 h 5581866"/>
              <a:gd name="connsiteX23" fmla="*/ 2263467 w 6053670"/>
              <a:gd name="connsiteY23" fmla="*/ 215470 h 5581866"/>
              <a:gd name="connsiteX24" fmla="*/ 2378487 w 6053670"/>
              <a:gd name="connsiteY24" fmla="*/ 220332 h 5581866"/>
              <a:gd name="connsiteX25" fmla="*/ 2495323 w 6053670"/>
              <a:gd name="connsiteY25" fmla="*/ 224879 h 5581866"/>
              <a:gd name="connsiteX26" fmla="*/ 2612764 w 6053670"/>
              <a:gd name="connsiteY26" fmla="*/ 227859 h 5581866"/>
              <a:gd name="connsiteX27" fmla="*/ 2732627 w 6053670"/>
              <a:gd name="connsiteY27" fmla="*/ 230525 h 5581866"/>
              <a:gd name="connsiteX28" fmla="*/ 2853700 w 6053670"/>
              <a:gd name="connsiteY28" fmla="*/ 233348 h 5581866"/>
              <a:gd name="connsiteX29" fmla="*/ 2977195 w 6053670"/>
              <a:gd name="connsiteY29" fmla="*/ 235229 h 5581866"/>
              <a:gd name="connsiteX30" fmla="*/ 3101900 w 6053670"/>
              <a:gd name="connsiteY30" fmla="*/ 235229 h 5581866"/>
              <a:gd name="connsiteX31" fmla="*/ 3227817 w 6053670"/>
              <a:gd name="connsiteY31" fmla="*/ 236170 h 5581866"/>
              <a:gd name="connsiteX32" fmla="*/ 3354944 w 6053670"/>
              <a:gd name="connsiteY32" fmla="*/ 235229 h 5581866"/>
              <a:gd name="connsiteX33" fmla="*/ 3483887 w 6053670"/>
              <a:gd name="connsiteY33" fmla="*/ 233348 h 5581866"/>
              <a:gd name="connsiteX34" fmla="*/ 3612830 w 6053670"/>
              <a:gd name="connsiteY34" fmla="*/ 231623 h 5581866"/>
              <a:gd name="connsiteX35" fmla="*/ 3743589 w 6053670"/>
              <a:gd name="connsiteY35" fmla="*/ 227859 h 5581866"/>
              <a:gd name="connsiteX36" fmla="*/ 3875559 w 6053670"/>
              <a:gd name="connsiteY36" fmla="*/ 223938 h 5581866"/>
              <a:gd name="connsiteX37" fmla="*/ 4007529 w 6053670"/>
              <a:gd name="connsiteY37" fmla="*/ 219391 h 5581866"/>
              <a:gd name="connsiteX38" fmla="*/ 4140710 w 6053670"/>
              <a:gd name="connsiteY38" fmla="*/ 212961 h 5581866"/>
              <a:gd name="connsiteX39" fmla="*/ 4275102 w 6053670"/>
              <a:gd name="connsiteY39" fmla="*/ 205277 h 5581866"/>
              <a:gd name="connsiteX40" fmla="*/ 4410098 w 6053670"/>
              <a:gd name="connsiteY40" fmla="*/ 197907 h 5581866"/>
              <a:gd name="connsiteX41" fmla="*/ 4545096 w 6053670"/>
              <a:gd name="connsiteY41" fmla="*/ 188498 h 5581866"/>
              <a:gd name="connsiteX42" fmla="*/ 4681909 w 6053670"/>
              <a:gd name="connsiteY42" fmla="*/ 177207 h 5581866"/>
              <a:gd name="connsiteX43" fmla="*/ 4816905 w 6053670"/>
              <a:gd name="connsiteY43" fmla="*/ 165916 h 5581866"/>
              <a:gd name="connsiteX44" fmla="*/ 4954323 w 6053670"/>
              <a:gd name="connsiteY44" fmla="*/ 152899 h 5581866"/>
              <a:gd name="connsiteX45" fmla="*/ 5092347 w 6053670"/>
              <a:gd name="connsiteY45" fmla="*/ 138629 h 5581866"/>
              <a:gd name="connsiteX46" fmla="*/ 5228555 w 6053670"/>
              <a:gd name="connsiteY46" fmla="*/ 123574 h 5581866"/>
              <a:gd name="connsiteX47" fmla="*/ 5366578 w 6053670"/>
              <a:gd name="connsiteY47" fmla="*/ 106010 h 5581866"/>
              <a:gd name="connsiteX48" fmla="*/ 5503997 w 6053670"/>
              <a:gd name="connsiteY48" fmla="*/ 87192 h 5581866"/>
              <a:gd name="connsiteX49" fmla="*/ 5642020 w 6053670"/>
              <a:gd name="connsiteY49" fmla="*/ 68530 h 5581866"/>
              <a:gd name="connsiteX50" fmla="*/ 5779438 w 6053670"/>
              <a:gd name="connsiteY50" fmla="*/ 46733 h 5581866"/>
              <a:gd name="connsiteX51" fmla="*/ 5916251 w 6053670"/>
              <a:gd name="connsiteY51" fmla="*/ 24464 h 5581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5581866">
                <a:moveTo>
                  <a:pt x="6053670" y="1098"/>
                </a:moveTo>
                <a:lnTo>
                  <a:pt x="6053670" y="514028"/>
                </a:lnTo>
                <a:lnTo>
                  <a:pt x="6053670" y="1254558"/>
                </a:lnTo>
                <a:lnTo>
                  <a:pt x="6053670" y="5581866"/>
                </a:lnTo>
                <a:lnTo>
                  <a:pt x="0" y="5581866"/>
                </a:lnTo>
                <a:lnTo>
                  <a:pt x="0" y="1249853"/>
                </a:lnTo>
                <a:lnTo>
                  <a:pt x="0" y="514028"/>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0" y="235229"/>
                </a:lnTo>
                <a:lnTo>
                  <a:pt x="3227817" y="236170"/>
                </a:lnTo>
                <a:lnTo>
                  <a:pt x="3354944" y="235229"/>
                </a:lnTo>
                <a:lnTo>
                  <a:pt x="3483887" y="233348"/>
                </a:lnTo>
                <a:lnTo>
                  <a:pt x="3612830" y="231623"/>
                </a:lnTo>
                <a:lnTo>
                  <a:pt x="3743589" y="227859"/>
                </a:lnTo>
                <a:lnTo>
                  <a:pt x="3875559" y="223938"/>
                </a:lnTo>
                <a:lnTo>
                  <a:pt x="4007529"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94" name="Freeform 5">
            <a:extLst>
              <a:ext uri="{FF2B5EF4-FFF2-40B4-BE49-F238E27FC236}">
                <a16:creationId xmlns:a16="http://schemas.microsoft.com/office/drawing/2014/main" id="{8ADF14A3-1454-4B74-8B4A-CB197D7A79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
        <p:nvSpPr>
          <p:cNvPr id="95" name="Freeform 5">
            <a:extLst>
              <a:ext uri="{FF2B5EF4-FFF2-40B4-BE49-F238E27FC236}">
                <a16:creationId xmlns:a16="http://schemas.microsoft.com/office/drawing/2014/main" id="{EC19D556-0251-4E87-AE24-890965BAD5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94588F73-C7A7-ECEE-077E-E549C730C87D}"/>
              </a:ext>
            </a:extLst>
          </p:cNvPr>
          <p:cNvSpPr>
            <a:spLocks noGrp="1"/>
          </p:cNvSpPr>
          <p:nvPr>
            <p:ph type="title"/>
          </p:nvPr>
        </p:nvSpPr>
        <p:spPr>
          <a:xfrm>
            <a:off x="639098" y="629265"/>
            <a:ext cx="5132438" cy="1622322"/>
          </a:xfrm>
        </p:spPr>
        <p:txBody>
          <a:bodyPr>
            <a:normAutofit/>
          </a:bodyPr>
          <a:lstStyle/>
          <a:p>
            <a:r>
              <a:rPr lang="en-IN">
                <a:solidFill>
                  <a:schemeClr val="tx1"/>
                </a:solidFill>
              </a:rPr>
              <a:t>Dashboard Showcase – Investor Analytics</a:t>
            </a:r>
            <a:endParaRPr lang="en-US">
              <a:solidFill>
                <a:schemeClr val="tx1"/>
              </a:solidFill>
            </a:endParaRPr>
          </a:p>
        </p:txBody>
      </p:sp>
      <p:sp>
        <p:nvSpPr>
          <p:cNvPr id="96" name="Rectangle 95">
            <a:extLst>
              <a:ext uri="{FF2B5EF4-FFF2-40B4-BE49-F238E27FC236}">
                <a16:creationId xmlns:a16="http://schemas.microsoft.com/office/drawing/2014/main" id="{CBC3C8C6-98E2-45EF-AEFC-30C0DBA0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FB38EEA9-A7D5-19EC-9824-0DF9BFE0D61F}"/>
              </a:ext>
            </a:extLst>
          </p:cNvPr>
          <p:cNvSpPr>
            <a:spLocks noGrp="1"/>
          </p:cNvSpPr>
          <p:nvPr>
            <p:ph idx="1"/>
          </p:nvPr>
        </p:nvSpPr>
        <p:spPr>
          <a:xfrm>
            <a:off x="639098" y="2418735"/>
            <a:ext cx="5132439" cy="3811742"/>
          </a:xfrm>
        </p:spPr>
        <p:txBody>
          <a:bodyPr anchor="ctr">
            <a:normAutofit/>
          </a:bodyPr>
          <a:lstStyle/>
          <a:p>
            <a:pPr marL="0" indent="0">
              <a:lnSpc>
                <a:spcPct val="90000"/>
              </a:lnSpc>
              <a:buNone/>
            </a:pPr>
            <a:r>
              <a:rPr lang="en-IN" b="1" dirty="0">
                <a:solidFill>
                  <a:schemeClr val="tx1"/>
                </a:solidFill>
              </a:rPr>
              <a:t>Dashboard 3</a:t>
            </a:r>
          </a:p>
          <a:p>
            <a:pPr>
              <a:lnSpc>
                <a:spcPct val="90000"/>
              </a:lnSpc>
            </a:pPr>
            <a:r>
              <a:rPr lang="en-IN" dirty="0">
                <a:solidFill>
                  <a:schemeClr val="tx1"/>
                </a:solidFill>
              </a:rPr>
              <a:t>Investor Analytics Dashboard</a:t>
            </a:r>
          </a:p>
          <a:p>
            <a:pPr>
              <a:lnSpc>
                <a:spcPct val="90000"/>
              </a:lnSpc>
            </a:pPr>
            <a:r>
              <a:rPr lang="en-IN" dirty="0">
                <a:solidFill>
                  <a:schemeClr val="tx1"/>
                </a:solidFill>
              </a:rPr>
              <a:t>Transaction Analysis </a:t>
            </a:r>
          </a:p>
          <a:p>
            <a:pPr>
              <a:lnSpc>
                <a:spcPct val="90000"/>
              </a:lnSpc>
            </a:pPr>
            <a:r>
              <a:rPr lang="en-IN" dirty="0">
                <a:solidFill>
                  <a:schemeClr val="tx1"/>
                </a:solidFill>
              </a:rPr>
              <a:t>Age Group Analysis </a:t>
            </a:r>
          </a:p>
          <a:p>
            <a:pPr>
              <a:lnSpc>
                <a:spcPct val="90000"/>
              </a:lnSpc>
            </a:pPr>
            <a:r>
              <a:rPr lang="en-IN" dirty="0">
                <a:solidFill>
                  <a:schemeClr val="tx1"/>
                </a:solidFill>
              </a:rPr>
              <a:t>Geographic Insights </a:t>
            </a:r>
          </a:p>
          <a:p>
            <a:pPr marL="0" indent="0">
              <a:lnSpc>
                <a:spcPct val="90000"/>
              </a:lnSpc>
              <a:buNone/>
            </a:pPr>
            <a:r>
              <a:rPr lang="en-IN" b="1" dirty="0">
                <a:solidFill>
                  <a:schemeClr val="tx1"/>
                </a:solidFill>
              </a:rPr>
              <a:t>Dashboard 4</a:t>
            </a:r>
          </a:p>
          <a:p>
            <a:pPr>
              <a:lnSpc>
                <a:spcPct val="90000"/>
              </a:lnSpc>
            </a:pPr>
            <a:r>
              <a:rPr lang="en-IN" dirty="0">
                <a:solidFill>
                  <a:schemeClr val="tx1"/>
                </a:solidFill>
              </a:rPr>
              <a:t>SIP &amp; Market Trends Dashboard</a:t>
            </a:r>
          </a:p>
          <a:p>
            <a:pPr>
              <a:lnSpc>
                <a:spcPct val="90000"/>
              </a:lnSpc>
            </a:pPr>
            <a:r>
              <a:rPr lang="en-IN" dirty="0">
                <a:solidFill>
                  <a:schemeClr val="tx1"/>
                </a:solidFill>
              </a:rPr>
              <a:t>SIP Trends </a:t>
            </a:r>
          </a:p>
          <a:p>
            <a:pPr>
              <a:lnSpc>
                <a:spcPct val="90000"/>
              </a:lnSpc>
            </a:pPr>
            <a:r>
              <a:rPr lang="en-IN" dirty="0">
                <a:solidFill>
                  <a:schemeClr val="tx1"/>
                </a:solidFill>
              </a:rPr>
              <a:t>Market Comparison </a:t>
            </a:r>
          </a:p>
          <a:p>
            <a:pPr>
              <a:lnSpc>
                <a:spcPct val="90000"/>
              </a:lnSpc>
            </a:pPr>
            <a:r>
              <a:rPr lang="en-IN" dirty="0">
                <a:solidFill>
                  <a:schemeClr val="tx1"/>
                </a:solidFill>
              </a:rPr>
              <a:t>Category Inflows</a:t>
            </a:r>
          </a:p>
          <a:p>
            <a:pPr>
              <a:lnSpc>
                <a:spcPct val="90000"/>
              </a:lnSpc>
            </a:pPr>
            <a:endParaRPr lang="en-US" dirty="0">
              <a:solidFill>
                <a:schemeClr val="tx1"/>
              </a:solidFill>
            </a:endParaRPr>
          </a:p>
        </p:txBody>
      </p:sp>
      <p:pic>
        <p:nvPicPr>
          <p:cNvPr id="5" name="Picture 4">
            <a:extLst>
              <a:ext uri="{FF2B5EF4-FFF2-40B4-BE49-F238E27FC236}">
                <a16:creationId xmlns:a16="http://schemas.microsoft.com/office/drawing/2014/main" id="{7DF15B1A-938B-41F5-33CB-1B42B1380AA4}"/>
              </a:ext>
            </a:extLst>
          </p:cNvPr>
          <p:cNvPicPr>
            <a:picLocks noChangeAspect="1"/>
          </p:cNvPicPr>
          <p:nvPr/>
        </p:nvPicPr>
        <p:blipFill>
          <a:blip r:embed="rId2"/>
          <a:srcRect r="10859"/>
          <a:stretch>
            <a:fillRect/>
          </a:stretch>
        </p:blipFill>
        <p:spPr>
          <a:xfrm>
            <a:off x="6410634" y="31277"/>
            <a:ext cx="5581866" cy="3324218"/>
          </a:xfrm>
          <a:prstGeom prst="rect">
            <a:avLst/>
          </a:prstGeom>
        </p:spPr>
      </p:pic>
      <p:pic>
        <p:nvPicPr>
          <p:cNvPr id="7" name="Picture 6">
            <a:extLst>
              <a:ext uri="{FF2B5EF4-FFF2-40B4-BE49-F238E27FC236}">
                <a16:creationId xmlns:a16="http://schemas.microsoft.com/office/drawing/2014/main" id="{96A4074A-FCED-4FEE-DA3C-548B32B722D1}"/>
              </a:ext>
            </a:extLst>
          </p:cNvPr>
          <p:cNvPicPr>
            <a:picLocks noChangeAspect="1"/>
          </p:cNvPicPr>
          <p:nvPr/>
        </p:nvPicPr>
        <p:blipFill>
          <a:blip r:embed="rId3"/>
          <a:srcRect l="2198" r="3" b="3"/>
          <a:stretch>
            <a:fillRect/>
          </a:stretch>
        </p:blipFill>
        <p:spPr>
          <a:xfrm>
            <a:off x="6410633" y="3429000"/>
            <a:ext cx="5773296" cy="3343564"/>
          </a:xfrm>
          <a:prstGeom prst="rect">
            <a:avLst/>
          </a:prstGeom>
        </p:spPr>
      </p:pic>
      <p:pic>
        <p:nvPicPr>
          <p:cNvPr id="8" name="Picture 7">
            <a:extLst>
              <a:ext uri="{FF2B5EF4-FFF2-40B4-BE49-F238E27FC236}">
                <a16:creationId xmlns:a16="http://schemas.microsoft.com/office/drawing/2014/main" id="{9D5D3416-1D55-98B6-2970-8479FAFE0530}"/>
              </a:ext>
            </a:extLst>
          </p:cNvPr>
          <p:cNvPicPr>
            <a:picLocks noChangeAspect="1"/>
          </p:cNvPicPr>
          <p:nvPr/>
        </p:nvPicPr>
        <p:blipFill>
          <a:blip r:embed="rId4"/>
          <a:stretch>
            <a:fillRect/>
          </a:stretch>
        </p:blipFill>
        <p:spPr>
          <a:xfrm>
            <a:off x="11447231" y="0"/>
            <a:ext cx="653142" cy="653142"/>
          </a:xfrm>
          <a:prstGeom prst="rect">
            <a:avLst/>
          </a:prstGeom>
        </p:spPr>
      </p:pic>
    </p:spTree>
    <p:extLst>
      <p:ext uri="{BB962C8B-B14F-4D97-AF65-F5344CB8AC3E}">
        <p14:creationId xmlns:p14="http://schemas.microsoft.com/office/powerpoint/2010/main" val="1991956309"/>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A4B26-9817-95BB-7918-4B07A4D74469}"/>
              </a:ext>
            </a:extLst>
          </p:cNvPr>
          <p:cNvSpPr>
            <a:spLocks noGrp="1"/>
          </p:cNvSpPr>
          <p:nvPr>
            <p:ph type="title"/>
          </p:nvPr>
        </p:nvSpPr>
        <p:spPr/>
        <p:txBody>
          <a:bodyPr/>
          <a:lstStyle/>
          <a:p>
            <a:r>
              <a:rPr lang="en-IN" dirty="0"/>
              <a:t>Key Findings &amp; Recommendations</a:t>
            </a:r>
            <a:endParaRPr lang="en-US" dirty="0"/>
          </a:p>
        </p:txBody>
      </p:sp>
      <p:sp>
        <p:nvSpPr>
          <p:cNvPr id="3" name="Content Placeholder 2">
            <a:extLst>
              <a:ext uri="{FF2B5EF4-FFF2-40B4-BE49-F238E27FC236}">
                <a16:creationId xmlns:a16="http://schemas.microsoft.com/office/drawing/2014/main" id="{575DE902-D130-151E-A68E-3087DD131821}"/>
              </a:ext>
            </a:extLst>
          </p:cNvPr>
          <p:cNvSpPr>
            <a:spLocks noGrp="1"/>
          </p:cNvSpPr>
          <p:nvPr>
            <p:ph idx="1"/>
          </p:nvPr>
        </p:nvSpPr>
        <p:spPr/>
        <p:txBody>
          <a:bodyPr>
            <a:normAutofit fontScale="85000" lnSpcReduction="20000"/>
          </a:bodyPr>
          <a:lstStyle/>
          <a:p>
            <a:pPr marL="0" indent="0">
              <a:buNone/>
            </a:pPr>
            <a:r>
              <a:rPr lang="en-IN" b="1" dirty="0"/>
              <a:t>Key Findings</a:t>
            </a:r>
          </a:p>
          <a:p>
            <a:r>
              <a:rPr lang="en-IN" dirty="0"/>
              <a:t>Industry AUM grew consistently during the study period. </a:t>
            </a:r>
          </a:p>
          <a:p>
            <a:r>
              <a:rPr lang="en-IN" dirty="0"/>
              <a:t>SIP inflows showed strong upward momentum. </a:t>
            </a:r>
          </a:p>
          <a:p>
            <a:r>
              <a:rPr lang="en-IN" dirty="0"/>
              <a:t>Small-cap funds generated higher returns but carried greater risk. </a:t>
            </a:r>
          </a:p>
          <a:p>
            <a:r>
              <a:rPr lang="en-IN" dirty="0"/>
              <a:t>High-Sharpe funds delivered superior risk-adjusted performance. </a:t>
            </a:r>
          </a:p>
          <a:p>
            <a:r>
              <a:rPr lang="en-IN" dirty="0"/>
              <a:t>Investor participation increased across multiple regions. </a:t>
            </a:r>
          </a:p>
          <a:p>
            <a:pPr marL="0" indent="0">
              <a:buNone/>
            </a:pPr>
            <a:r>
              <a:rPr lang="en-IN" b="1" dirty="0"/>
              <a:t>Recommendations</a:t>
            </a:r>
          </a:p>
          <a:p>
            <a:r>
              <a:rPr lang="en-IN" dirty="0"/>
              <a:t>Encourage SIP-based investing. </a:t>
            </a:r>
          </a:p>
          <a:p>
            <a:r>
              <a:rPr lang="en-IN" dirty="0"/>
              <a:t>Monitor high-risk funds carefully. </a:t>
            </a:r>
          </a:p>
          <a:p>
            <a:r>
              <a:rPr lang="en-IN" dirty="0"/>
              <a:t>Use Sharpe Ratio alongside returns for fund selection. </a:t>
            </a:r>
          </a:p>
          <a:p>
            <a:r>
              <a:rPr lang="en-IN" dirty="0"/>
              <a:t>Promote portfolio diversification.</a:t>
            </a:r>
          </a:p>
          <a:p>
            <a:endParaRPr lang="en-US" dirty="0"/>
          </a:p>
        </p:txBody>
      </p:sp>
      <p:pic>
        <p:nvPicPr>
          <p:cNvPr id="5" name="Picture 4">
            <a:extLst>
              <a:ext uri="{FF2B5EF4-FFF2-40B4-BE49-F238E27FC236}">
                <a16:creationId xmlns:a16="http://schemas.microsoft.com/office/drawing/2014/main" id="{ACFB35B2-F092-C39D-40A0-B6D773F6D36A}"/>
              </a:ext>
            </a:extLst>
          </p:cNvPr>
          <p:cNvPicPr>
            <a:picLocks noChangeAspect="1"/>
          </p:cNvPicPr>
          <p:nvPr/>
        </p:nvPicPr>
        <p:blipFill>
          <a:blip r:embed="rId2"/>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3459155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302F33-47BF-3508-7339-2DF920696F75}"/>
              </a:ext>
            </a:extLst>
          </p:cNvPr>
          <p:cNvSpPr>
            <a:spLocks noGrp="1"/>
          </p:cNvSpPr>
          <p:nvPr>
            <p:ph type="ctrTitle"/>
          </p:nvPr>
        </p:nvSpPr>
        <p:spPr/>
        <p:txBody>
          <a:bodyPr/>
          <a:lstStyle/>
          <a:p>
            <a:r>
              <a:rPr lang="en-IN" dirty="0"/>
              <a:t>Thank You</a:t>
            </a:r>
            <a:endParaRPr lang="en-US" dirty="0"/>
          </a:p>
        </p:txBody>
      </p:sp>
      <p:sp>
        <p:nvSpPr>
          <p:cNvPr id="5" name="Subtitle 4">
            <a:extLst>
              <a:ext uri="{FF2B5EF4-FFF2-40B4-BE49-F238E27FC236}">
                <a16:creationId xmlns:a16="http://schemas.microsoft.com/office/drawing/2014/main" id="{3584B8D5-8E18-48F3-CF8D-A94A73E481A4}"/>
              </a:ext>
            </a:extLst>
          </p:cNvPr>
          <p:cNvSpPr>
            <a:spLocks noGrp="1"/>
          </p:cNvSpPr>
          <p:nvPr>
            <p:ph type="subTitle" idx="1"/>
          </p:nvPr>
        </p:nvSpPr>
        <p:spPr/>
        <p:txBody>
          <a:bodyPr/>
          <a:lstStyle/>
          <a:p>
            <a:endParaRPr lang="en-US" dirty="0"/>
          </a:p>
        </p:txBody>
      </p:sp>
      <p:pic>
        <p:nvPicPr>
          <p:cNvPr id="6" name="Picture 5">
            <a:extLst>
              <a:ext uri="{FF2B5EF4-FFF2-40B4-BE49-F238E27FC236}">
                <a16:creationId xmlns:a16="http://schemas.microsoft.com/office/drawing/2014/main" id="{BA0FFDFC-81E0-D2F8-A044-FC5D2A3F2DFB}"/>
              </a:ext>
            </a:extLst>
          </p:cNvPr>
          <p:cNvPicPr>
            <a:picLocks noChangeAspect="1"/>
          </p:cNvPicPr>
          <p:nvPr/>
        </p:nvPicPr>
        <p:blipFill>
          <a:blip r:embed="rId2"/>
          <a:stretch>
            <a:fillRect/>
          </a:stretch>
        </p:blipFill>
        <p:spPr>
          <a:xfrm>
            <a:off x="10450287" y="468085"/>
            <a:ext cx="653142" cy="653142"/>
          </a:xfrm>
          <a:prstGeom prst="rect">
            <a:avLst/>
          </a:prstGeom>
        </p:spPr>
      </p:pic>
    </p:spTree>
    <p:extLst>
      <p:ext uri="{BB962C8B-B14F-4D97-AF65-F5344CB8AC3E}">
        <p14:creationId xmlns:p14="http://schemas.microsoft.com/office/powerpoint/2010/main" val="203317777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60</TotalTime>
  <Words>606</Words>
  <Application>Microsoft Macintosh PowerPoint</Application>
  <PresentationFormat>Widescreen</PresentationFormat>
  <Paragraphs>114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Century Gothic</vt:lpstr>
      <vt:lpstr>Wingdings 3</vt:lpstr>
      <vt:lpstr>Ion Boardroom</vt:lpstr>
      <vt:lpstr>Bluestock Mutual Fund Analytics Capstone Project </vt:lpstr>
      <vt:lpstr>Problem Statement &amp; Objectives</vt:lpstr>
      <vt:lpstr>Data Sources</vt:lpstr>
      <vt:lpstr>Project Architecture</vt:lpstr>
      <vt:lpstr>EDA Highlights – Industry Trends </vt:lpstr>
      <vt:lpstr>EDA Highlights – Investor Behavior</vt:lpstr>
      <vt:lpstr>Performance Metrics – Risk &amp; Return Analysis</vt:lpstr>
      <vt:lpstr>Performance Metrics – Advanced Analytics</vt:lpstr>
      <vt:lpstr>Dashboard Showcase – Industry Overview</vt:lpstr>
      <vt:lpstr>Dashboard Showcase – Investor Analytics</vt:lpstr>
      <vt:lpstr>Key Findings &amp; Recommendations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ASHI DWIVEDI</dc:creator>
  <cp:lastModifiedBy>ASHI DWIVEDI</cp:lastModifiedBy>
  <cp:revision>2</cp:revision>
  <dcterms:created xsi:type="dcterms:W3CDTF">2026-06-11T14:55:26Z</dcterms:created>
  <dcterms:modified xsi:type="dcterms:W3CDTF">2026-06-11T15:55:44Z</dcterms:modified>
</cp:coreProperties>
</file>